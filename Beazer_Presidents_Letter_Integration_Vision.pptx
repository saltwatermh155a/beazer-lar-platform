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7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27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32704" y="0"/>
            <a:ext cx="128016" cy="5143500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20040"/>
            <a:ext cx="1463040" cy="329184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BEAZER HOMES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"/>
            <a:ext cx="1051560" cy="329184"/>
          </a:xfrm>
          <a:prstGeom prst="rect">
            <a:avLst/>
          </a:prstGeom>
          <a:solidFill>
            <a:srgbClr val="243D5C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20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President's Letter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Integration Vision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11480" y="2523744"/>
            <a:ext cx="4937760" cy="0"/>
          </a:xfrm>
          <a:prstGeom prst="line">
            <a:avLst/>
          </a:prstGeom>
          <a:noFill/>
          <a:ln w="19050">
            <a:solidFill>
              <a:srgbClr val="C891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7004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land acquisition lifecycle — research, comparison,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justification, and AI-generated approval letters,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embedded in Scout's LAR.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8755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91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10896" y="29260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Scout: An End-to-End Land Acquisition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0896" y="69494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a deal — from first research to final approval — in a single, connected workflow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44475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4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1444752" cy="438912"/>
          </a:xfrm>
          <a:prstGeom prst="rect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4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93192" y="19202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" y="256032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data, community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deal details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12341" y="2157984"/>
            <a:ext cx="142646" cy="25603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2341" y="2139696"/>
            <a:ext cx="1426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097280"/>
            <a:ext cx="144475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02536" y="1097280"/>
            <a:ext cx="1444752" cy="438912"/>
          </a:xfrm>
          <a:prstGeom prst="rect">
            <a:avLst/>
          </a:prstGeom>
          <a:solidFill>
            <a:srgbClr val="2F5280"/>
          </a:solidFill>
          <a:ln w="12700">
            <a:solidFill>
              <a:srgbClr val="2F5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48256" y="16093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 CRITERIA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75688" y="19202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75688" y="256032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resiliency scoring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4837" y="2157984"/>
            <a:ext cx="142646" cy="25603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4837" y="2139696"/>
            <a:ext cx="1426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85032" y="1097280"/>
            <a:ext cx="144475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85032" y="1097280"/>
            <a:ext cx="1444752" cy="438912"/>
          </a:xfrm>
          <a:prstGeom prst="rect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30752" y="16093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58184" y="19202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of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58184" y="256032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value justification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77333" y="2157984"/>
            <a:ext cx="142646" cy="25603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7333" y="2139696"/>
            <a:ext cx="1426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67528" y="1097280"/>
            <a:ext cx="144475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67528" y="1097280"/>
            <a:ext cx="1444752" cy="438912"/>
          </a:xfrm>
          <a:prstGeom prst="rect">
            <a:avLst/>
          </a:prstGeom>
          <a:solidFill>
            <a:srgbClr val="2E6B4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16093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PROFORMA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40680" y="19202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40680" y="256032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absorption,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proforma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9829" y="2157984"/>
            <a:ext cx="142646" cy="25603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9829" y="2139696"/>
            <a:ext cx="1426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50024" y="1097280"/>
            <a:ext cx="144475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50024" y="1097280"/>
            <a:ext cx="1444752" cy="43891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23176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95744" y="16093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8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PRESIDENT'S LETTER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123176" y="19202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President's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✦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23176" y="256032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approval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— NEW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50024" y="3547872"/>
            <a:ext cx="1444752" cy="25603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0024" y="355701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now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8755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91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10896" y="29260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Standalone Prototype to Native Product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0896" y="69494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capability is proven — now we embed it directly into the Scout workflow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069080" cy="365760"/>
          </a:xfrm>
          <a:prstGeom prst="rect">
            <a:avLst/>
          </a:prstGeom>
          <a:solidFill>
            <a:srgbClr val="888580"/>
          </a:solidFill>
          <a:ln w="12700">
            <a:solidFill>
              <a:srgbClr val="888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· 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910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98448" y="1572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uploads Excel proforma + prior Word letter examples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66544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848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98448" y="20665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786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98448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app — lives outside Scout entirely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723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98448" y="30540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only what's in the uploaded files at that moment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547872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661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98448" y="3547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 returned; no save, no workflow, no version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804672" cy="2377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5993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98448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workflow — user copies output manually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43984" y="2743200"/>
            <a:ext cx="274320" cy="310896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27249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73168" y="1078992"/>
            <a:ext cx="4050792" cy="3657600"/>
          </a:xfrm>
          <a:prstGeom prst="rect">
            <a:avLst/>
          </a:prstGeom>
          <a:solidFill>
            <a:srgbClr val="162438"/>
          </a:solidFill>
          <a:ln w="19050">
            <a:solidFill>
              <a:srgbClr val="C891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1078992"/>
            <a:ext cx="4050792" cy="365760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1155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PRODUCT  ·  TARGET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64608" y="1572768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5910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42432" y="1572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directly from Scout deal data — no uploads needed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2066544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0848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742432" y="20665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— vision, large context, superior synthesis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2560320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5786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42432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tab in LAR — President's Letter tab alongside Input, TOP, Proforma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64608" y="3054096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0723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42432" y="30540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always reflects current Scout deal data + supplemental inputs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64608" y="3547872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5661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42432" y="3547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opens in a full rich-text editor, inline AI assistant for refinement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64608" y="4041648"/>
            <a:ext cx="804672" cy="237744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05993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42432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workflow: Draft → In Review → Approved, with full audit trail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5836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420624"/>
          </a:xfrm>
          <a:prstGeom prst="rect">
            <a:avLst/>
          </a:prstGeom>
          <a:solidFill>
            <a:srgbClr val="162438">
              <a:alpha val="75000"/>
            </a:srgbClr>
          </a:solidFill>
          <a:ln w="12700">
            <a:solidFill>
              <a:srgbClr val="162438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0" y="0"/>
            <a:ext cx="146304" cy="5143500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03136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 1 /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03136" y="40233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President's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03136" y="1316736"/>
            <a:ext cx="2103120" cy="0"/>
          </a:xfrm>
          <a:prstGeom prst="line">
            <a:avLst/>
          </a:prstGeom>
          <a:noFill/>
          <a:ln w="12700">
            <a:solidFill>
              <a:srgbClr val="C891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03136" y="1472184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76872" y="1426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deals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view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76872" y="17190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community — data readiness, lot count, location — at a glance from a single dashboard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803136" y="2350008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76872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76872" y="25968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all required data points confirmed. Amber = partial data — system blocks generation until resolved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03136" y="3227832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7687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76872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 Letter' and the AI agent synthesizes all Scout data into a structured draft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03136" y="4105656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6872" y="4059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76872" y="43525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generated letters tracked by status: Draft, In Review, or Approved — with author and dates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5836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420624"/>
          </a:xfrm>
          <a:prstGeom prst="rect">
            <a:avLst/>
          </a:prstGeom>
          <a:solidFill>
            <a:srgbClr val="162438">
              <a:alpha val="75000"/>
            </a:srgbClr>
          </a:solidFill>
          <a:ln w="12700">
            <a:solidFill>
              <a:srgbClr val="162438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0" y="0"/>
            <a:ext cx="146304" cy="5143500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03136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 2 /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03136" y="40233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03136" y="1316736"/>
            <a:ext cx="2103120" cy="0"/>
          </a:xfrm>
          <a:prstGeom prst="line">
            <a:avLst/>
          </a:prstGeom>
          <a:noFill/>
          <a:ln w="12700">
            <a:solidFill>
              <a:srgbClr val="C891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03136" y="1472184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76872" y="1426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exactly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76872" y="17190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generation, the system validates all required data points against the deal record in Scout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803136" y="2350008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76872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fields,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vague errors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76872" y="25968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precisely which documents are absent — Phase 1, Soil/Geotech Report, Utility Will-Serve Letters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03136" y="3227832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7687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76872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'Go to Input Tab' routes the user directly to the specific field needing attention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03136" y="4105656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6872" y="4059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76872" y="43525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letter is generated until requirements are satisfied — enforces data completeness before AI runs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5836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420624"/>
          </a:xfrm>
          <a:prstGeom prst="rect">
            <a:avLst/>
          </a:prstGeom>
          <a:solidFill>
            <a:srgbClr val="162438">
              <a:alpha val="75000"/>
            </a:srgbClr>
          </a:solidFill>
          <a:ln w="12700">
            <a:solidFill>
              <a:srgbClr val="162438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0" y="0"/>
            <a:ext cx="146304" cy="5143500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03136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 3 /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03136" y="40233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Letter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&amp;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03136" y="1316736"/>
            <a:ext cx="2103120" cy="0"/>
          </a:xfrm>
          <a:prstGeom prst="line">
            <a:avLst/>
          </a:prstGeom>
          <a:noFill/>
          <a:ln w="12700">
            <a:solidFill>
              <a:srgbClr val="C891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03136" y="1472184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76872" y="1426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76872" y="17190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draft opens immediately in a full rich-text editor — no downloading, no copy-paste, no separate tool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803136" y="2350008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76872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76872" y="25968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panel knows the deal context — ask it to tighten a section, add a data point, or restructure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03136" y="3227832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7687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76872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saves a version (v1.1, v1.2…) with timestamp and author — full audit trail from day one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03136" y="4105656"/>
            <a:ext cx="118872" cy="118872"/>
          </a:xfrm>
          <a:prstGeom prst="ellipse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6872" y="4059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76872" y="43525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progresses Draft → In Review → Approved, visible to the entire team across communities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8755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91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10896" y="29260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Three Guiding Principles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0896" y="69494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additive integration that protects the Scout platform you already rely 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2491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724912" cy="475488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3385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Zero Impact 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304288"/>
            <a:ext cx="250545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to the .NET backend, no edits to existing database tables, no risk of regression in current workflows.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President's Letter service sits alongside Scout — reading data via API, not modifying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2491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4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97280"/>
            <a:ext cx="2724912" cy="475488"/>
          </a:xfrm>
          <a:prstGeom prst="rect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13385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16642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New Data, Cleanly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2304288"/>
            <a:ext cx="250545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inputs not yet in Scout — Phase 1 assessments, utility will-serve letters, site imagery — are stored in new tables linked by deal ID.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schema is untouched.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1097280"/>
            <a:ext cx="272491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097280"/>
            <a:ext cx="2724912" cy="475488"/>
          </a:xfrm>
          <a:prstGeom prst="rect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13385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35624" y="166420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Claude AI Powers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35624" y="2304288"/>
            <a:ext cx="250545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from GPT-4.1 mini to Claude Sonnet 4.6 — a context window large enough for complete 40-page letters, vision capability for maps and imagery, and significantly better narrative output.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87552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91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TIMELINE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10896" y="29260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Six Weeks from Green Light to Production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0896" y="69494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work streams — AI agent, backend infrastructure, and UI — built simultaneously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691640" cy="91440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~223 hrs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streams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1097280"/>
            <a:ext cx="1691640" cy="914400"/>
          </a:xfrm>
          <a:prstGeom prst="rect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1338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Weeks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48840" y="1609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77640" y="1097280"/>
            <a:ext cx="1691640" cy="914400"/>
          </a:xfrm>
          <a:prstGeom prst="rect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1338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77640" y="1609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existing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.NET code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15000" y="1097280"/>
            <a:ext cx="3108960" cy="914400"/>
          </a:xfrm>
          <a:prstGeom prst="rect">
            <a:avLst/>
          </a:prstGeom>
          <a:solidFill>
            <a:srgbClr val="EAE8E2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170432"/>
            <a:ext cx="2889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streams mean ~6 weeks calendar time — not 223 hours end-to-end. AI agent, backend, and UI work simultaneously.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2066544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2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12848"/>
            <a:ext cx="2066544" cy="329184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58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615184"/>
            <a:ext cx="1883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3182112"/>
            <a:ext cx="91440" cy="91440"/>
          </a:xfrm>
          <a:prstGeom prst="ellipse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4553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Jesse &amp; Taylor on letter sections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" y="3657600"/>
            <a:ext cx="91440" cy="91440"/>
          </a:xfrm>
          <a:prstGeom prst="ellipse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Scout DB to letter data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" y="4133088"/>
            <a:ext cx="91440" cy="91440"/>
          </a:xfrm>
          <a:prstGeom prst="ellipse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09651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schema for supplemental 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95728" y="3355848"/>
            <a:ext cx="164592" cy="219456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78024" y="2212848"/>
            <a:ext cx="2066544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43D5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78024" y="2212848"/>
            <a:ext cx="2066544" cy="329184"/>
          </a:xfrm>
          <a:prstGeom prst="rect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2258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9464" y="2615184"/>
            <a:ext cx="1883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87752" y="3182112"/>
            <a:ext cx="91440" cy="91440"/>
          </a:xfrm>
          <a:prstGeom prst="ellipse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314553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pipeline — Scout → Claude → draft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87752" y="3657600"/>
            <a:ext cx="91440" cy="91440"/>
          </a:xfrm>
          <a:prstGeom prst="ellipse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34056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DB tables + Azure Functions service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87752" y="4133088"/>
            <a:ext cx="91440" cy="91440"/>
          </a:xfrm>
          <a:prstGeom prst="ellipse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409651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+ letter editor shell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53712" y="3355848"/>
            <a:ext cx="164592" cy="219456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53712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36008" y="2212848"/>
            <a:ext cx="2066544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5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36008" y="2212848"/>
            <a:ext cx="2066544" cy="329184"/>
          </a:xfrm>
          <a:prstGeom prst="rect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2258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27448" y="2615184"/>
            <a:ext cx="1883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Refinement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45736" y="3182112"/>
            <a:ext cx="91440" cy="91440"/>
          </a:xfrm>
          <a:prstGeom prst="ellipse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14553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AI agent to live Scout data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45736" y="3657600"/>
            <a:ext cx="91440" cy="91440"/>
          </a:xfrm>
          <a:prstGeom prst="ellipse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AI assistant + editor integration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45736" y="4133088"/>
            <a:ext cx="91440" cy="91440"/>
          </a:xfrm>
          <a:prstGeom prst="ellipse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09651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detection UI + guided resolution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11696" y="3355848"/>
            <a:ext cx="164592" cy="219456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11696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93992" y="2212848"/>
            <a:ext cx="2066544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93992" y="2212848"/>
            <a:ext cx="2066544" cy="329184"/>
          </a:xfrm>
          <a:prstGeom prst="rect">
            <a:avLst/>
          </a:prstGeom>
          <a:solidFill>
            <a:srgbClr val="2E6B4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85432" y="2258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85432" y="2615184"/>
            <a:ext cx="1883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903720" y="3182112"/>
            <a:ext cx="91440" cy="91440"/>
          </a:xfrm>
          <a:prstGeom prst="ellipse">
            <a:avLst/>
          </a:prstGeom>
          <a:solidFill>
            <a:srgbClr val="2E6B4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314553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across communities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3657600"/>
            <a:ext cx="91440" cy="91440"/>
          </a:xfrm>
          <a:prstGeom prst="ellipse">
            <a:avLst/>
          </a:prstGeom>
          <a:solidFill>
            <a:srgbClr val="2E6B4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0024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Beazer team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03720" y="4133088"/>
            <a:ext cx="91440" cy="91440"/>
          </a:xfrm>
          <a:prstGeom prst="ellipse">
            <a:avLst/>
          </a:prstGeom>
          <a:solidFill>
            <a:srgbClr val="2E6B4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409651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go-live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98448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Beazer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that unlock the path from prototype to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24528" cy="1572768"/>
          </a:xfrm>
          <a:prstGeom prst="rect">
            <a:avLst/>
          </a:prstGeom>
          <a:solidFill>
            <a:srgbClr val="1B3452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128016" cy="1572768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5361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Roxanne → Calance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Key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2128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GPT-4.1 mini to Claude Sonnet 4.6. Significantly better narrative quality, vision support for maps and site imagery, and context window large enough for complete 40-page letters.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224528" cy="1572768"/>
          </a:xfrm>
          <a:prstGeom prst="rect">
            <a:avLst/>
          </a:prstGeom>
          <a:solidFill>
            <a:srgbClr val="1B3452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44752"/>
            <a:ext cx="128016" cy="1572768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15361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Roxanne → Jonathan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56048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to Engage Taylor &amp; Jesse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2128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 is the President's Letter subject matter expert. We need his guidance on letter sections and which data points map to Scout vs. supplemental sources before we finalize the build.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4224528" cy="1572768"/>
          </a:xfrm>
          <a:prstGeom prst="rect">
            <a:avLst/>
          </a:prstGeom>
          <a:solidFill>
            <a:srgbClr val="1B3452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45536"/>
            <a:ext cx="128016" cy="1572768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218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" y="3236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Beazer 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1208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of Additive Database 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39136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supplemental tables linked by deal ID — no changes to existing Scout .NET entities or schema. Clean, low-risk separation of the new capability from the existing platform.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145536"/>
            <a:ext cx="4224528" cy="1572768"/>
          </a:xfrm>
          <a:prstGeom prst="rect">
            <a:avLst/>
          </a:prstGeom>
          <a:solidFill>
            <a:srgbClr val="1B3452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45536"/>
            <a:ext cx="128016" cy="1572768"/>
          </a:xfrm>
          <a:prstGeom prst="rect">
            <a:avLst/>
          </a:prstGeom>
          <a:solidFill>
            <a:srgbClr val="C8912A"/>
          </a:solidFill>
          <a:ln w="12700">
            <a:solidFill>
              <a:srgbClr val="C891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218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76672" y="3236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Roxanne → Team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Direction: Complete BW First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9136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is to finish Builder Warranty and hand off to Venice, then pivot fully to President's Letter. This eliminates context-switching and allows the team to build with full focus.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51476"/>
            <a:ext cx="84124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5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CALANCE  ×  BEAZER HOMES  |  PRESIDENT'S LETTER  |  MARCH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1166</Words>
  <Application>Microsoft Office PowerPoint</Application>
  <PresentationFormat>On-screen Show (16:9)</PresentationFormat>
  <Paragraphs>219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President's Letter — Integration Vision</dc:title>
  <dc:subject>PptxGenJS Presentation</dc:subject>
  <dc:creator>PptxGenJS</dc:creator>
  <cp:lastModifiedBy>jbrockman@careerpark.net</cp:lastModifiedBy>
  <cp:revision>3</cp:revision>
  <dcterms:created xsi:type="dcterms:W3CDTF">2026-03-13T18:51:34Z</dcterms:created>
  <dcterms:modified xsi:type="dcterms:W3CDTF">2026-03-18T17:22:04Z</dcterms:modified>
</cp:coreProperties>
</file>