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57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74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6126480" y="109728"/>
            <a:ext cx="1371600" cy="182880"/>
          </a:xfrm>
          <a:prstGeom prst="rect">
            <a:avLst/>
          </a:prstGeom>
          <a:noFill/>
          <a:ln/>
        </p:spPr>
        <p:txBody>
          <a:bodyPr wrap="square" lIns="0" tIns="0" rIns="0" bIns="0" rtlCol="0" anchor="ctr"/>
          <a:lstStyle/>
          <a:p>
            <a:pPr marL="0" indent="0" algn="r">
              <a:buNone/>
            </a:pPr>
            <a:r>
              <a:rPr lang="en-US" sz="750" dirty="0">
                <a:solidFill>
                  <a:srgbClr val="9F9C8F"/>
                </a:solidFill>
                <a:latin typeface="Segoe UI" pitchFamily="34" charset="0"/>
                <a:ea typeface="Segoe UI" pitchFamily="34" charset="-122"/>
                <a:cs typeface="Segoe UI" pitchFamily="34" charset="-120"/>
              </a:rPr>
              <a:t>In partnership with</a:t>
            </a:r>
            <a:endParaRPr lang="en-US" sz="750" dirty="0"/>
          </a:p>
        </p:txBody>
      </p:sp>
      <p:pic>
        <p:nvPicPr>
          <p:cNvPr id="4" name="Image 1" descr="preencoded.png"/>
          <p:cNvPicPr>
            <a:picLocks noChangeAspect="1"/>
          </p:cNvPicPr>
          <p:nvPr/>
        </p:nvPicPr>
        <p:blipFill>
          <a:blip r:embed="rId3"/>
          <a:srcRect/>
          <a:stretch/>
        </p:blipFill>
        <p:spPr>
          <a:xfrm>
            <a:off x="7571232" y="36576"/>
            <a:ext cx="1298448" cy="356616"/>
          </a:xfrm>
          <a:prstGeom prst="rect">
            <a:avLst/>
          </a:prstGeom>
        </p:spPr>
      </p:pic>
      <p:sp>
        <p:nvSpPr>
          <p:cNvPr id="5" name="Shape 1"/>
          <p:cNvSpPr/>
          <p:nvPr/>
        </p:nvSpPr>
        <p:spPr>
          <a:xfrm>
            <a:off x="0" y="438912"/>
            <a:ext cx="9144000" cy="32004"/>
          </a:xfrm>
          <a:prstGeom prst="rect">
            <a:avLst/>
          </a:prstGeom>
          <a:solidFill>
            <a:srgbClr val="679F7B"/>
          </a:solidFill>
          <a:ln w="12700">
            <a:solidFill>
              <a:srgbClr val="679F7B"/>
            </a:solidFill>
            <a:prstDash val="solid"/>
          </a:ln>
        </p:spPr>
      </p:sp>
      <p:sp>
        <p:nvSpPr>
          <p:cNvPr id="6" name="Shape 2"/>
          <p:cNvSpPr/>
          <p:nvPr/>
        </p:nvSpPr>
        <p:spPr>
          <a:xfrm>
            <a:off x="274320" y="640080"/>
            <a:ext cx="8595360" cy="2194560"/>
          </a:xfrm>
          <a:prstGeom prst="rect">
            <a:avLst/>
          </a:prstGeom>
          <a:solidFill>
            <a:schemeClr val="accent6">
              <a:lumMod val="50000"/>
            </a:schemeClr>
          </a:solidFill>
          <a:ln w="12700">
            <a:solidFill>
              <a:srgbClr val="222B26"/>
            </a:solidFill>
            <a:prstDash val="solid"/>
          </a:ln>
        </p:spPr>
      </p:sp>
      <p:sp>
        <p:nvSpPr>
          <p:cNvPr id="7" name="Shape 3"/>
          <p:cNvSpPr/>
          <p:nvPr/>
        </p:nvSpPr>
        <p:spPr>
          <a:xfrm>
            <a:off x="6217920" y="640080"/>
            <a:ext cx="2651760" cy="2194560"/>
          </a:xfrm>
          <a:prstGeom prst="rect">
            <a:avLst/>
          </a:prstGeom>
          <a:solidFill>
            <a:srgbClr val="679F7B">
              <a:alpha val="45000"/>
            </a:srgbClr>
          </a:solidFill>
          <a:ln w="12700">
            <a:solidFill>
              <a:srgbClr val="679F7B">
                <a:alpha val="45000"/>
              </a:srgbClr>
            </a:solidFill>
            <a:prstDash val="solid"/>
          </a:ln>
        </p:spPr>
      </p:sp>
      <p:sp>
        <p:nvSpPr>
          <p:cNvPr id="8" name="Text 4"/>
          <p:cNvSpPr/>
          <p:nvPr/>
        </p:nvSpPr>
        <p:spPr>
          <a:xfrm>
            <a:off x="502920" y="822960"/>
            <a:ext cx="8138160" cy="694944"/>
          </a:xfrm>
          <a:prstGeom prst="rect">
            <a:avLst/>
          </a:prstGeom>
          <a:noFill/>
          <a:ln/>
        </p:spPr>
        <p:txBody>
          <a:bodyPr wrap="square" lIns="0" tIns="0" rIns="0" bIns="0" rtlCol="0" anchor="ctr"/>
          <a:lstStyle/>
          <a:p>
            <a:pPr marL="0" indent="0" algn="ctr">
              <a:buNone/>
            </a:pPr>
            <a:r>
              <a:rPr lang="en-US" sz="3400" b="1" dirty="0">
                <a:solidFill>
                  <a:srgbClr val="FFFFFF"/>
                </a:solidFill>
                <a:latin typeface="Segoe UI" pitchFamily="34" charset="0"/>
                <a:ea typeface="Segoe UI" pitchFamily="34" charset="-122"/>
                <a:cs typeface="Segoe UI" pitchFamily="34" charset="-120"/>
              </a:rPr>
              <a:t>President's Letter Agent</a:t>
            </a:r>
            <a:endParaRPr lang="en-US" sz="3400" dirty="0"/>
          </a:p>
        </p:txBody>
      </p:sp>
      <p:sp>
        <p:nvSpPr>
          <p:cNvPr id="9" name="Text 5"/>
          <p:cNvSpPr/>
          <p:nvPr/>
        </p:nvSpPr>
        <p:spPr>
          <a:xfrm>
            <a:off x="502920" y="1572768"/>
            <a:ext cx="8138160" cy="402336"/>
          </a:xfrm>
          <a:prstGeom prst="rect">
            <a:avLst/>
          </a:prstGeom>
          <a:noFill/>
          <a:ln/>
        </p:spPr>
        <p:txBody>
          <a:bodyPr wrap="square" lIns="0" tIns="0" rIns="0" bIns="0" rtlCol="0" anchor="ctr"/>
          <a:lstStyle/>
          <a:p>
            <a:pPr marL="0" indent="0" algn="ctr">
              <a:lnSpc>
                <a:spcPct val="130000"/>
              </a:lnSpc>
              <a:buNone/>
            </a:pPr>
            <a:r>
              <a:rPr lang="en-US" sz="1300" dirty="0">
                <a:solidFill>
                  <a:srgbClr val="FFFFFF"/>
                </a:solidFill>
                <a:latin typeface="Segoe UI" pitchFamily="34" charset="0"/>
                <a:ea typeface="Segoe UI" pitchFamily="34" charset="-122"/>
                <a:cs typeface="Segoe UI" pitchFamily="34" charset="-120"/>
              </a:rPr>
              <a:t>Scout Integration — From POC to Fully Integrated Module</a:t>
            </a:r>
            <a:endParaRPr lang="en-US" sz="1300" dirty="0"/>
          </a:p>
        </p:txBody>
      </p:sp>
      <p:sp>
        <p:nvSpPr>
          <p:cNvPr id="10" name="Shape 6"/>
          <p:cNvSpPr/>
          <p:nvPr/>
        </p:nvSpPr>
        <p:spPr>
          <a:xfrm>
            <a:off x="3200400" y="2029968"/>
            <a:ext cx="2743200" cy="45720"/>
          </a:xfrm>
          <a:prstGeom prst="rect">
            <a:avLst/>
          </a:prstGeom>
          <a:solidFill>
            <a:srgbClr val="AE8F5D"/>
          </a:solidFill>
          <a:ln w="12700">
            <a:solidFill>
              <a:srgbClr val="AE8F5D"/>
            </a:solidFill>
            <a:prstDash val="solid"/>
          </a:ln>
        </p:spPr>
      </p:sp>
      <p:sp>
        <p:nvSpPr>
          <p:cNvPr id="11" name="Text 7"/>
          <p:cNvSpPr/>
          <p:nvPr/>
        </p:nvSpPr>
        <p:spPr>
          <a:xfrm>
            <a:off x="502920" y="2139696"/>
            <a:ext cx="8138160" cy="237744"/>
          </a:xfrm>
          <a:prstGeom prst="rect">
            <a:avLst/>
          </a:prstGeom>
          <a:noFill/>
          <a:ln/>
        </p:spPr>
        <p:txBody>
          <a:bodyPr wrap="square" lIns="0" tIns="0" rIns="0" bIns="0" rtlCol="0" anchor="ctr"/>
          <a:lstStyle/>
          <a:p>
            <a:pPr marL="0" indent="0" algn="ctr">
              <a:buNone/>
            </a:pPr>
            <a:r>
              <a:rPr lang="en-US" sz="1000" dirty="0">
                <a:solidFill>
                  <a:srgbClr val="AABBC0"/>
                </a:solidFill>
                <a:latin typeface="Segoe UI" pitchFamily="34" charset="0"/>
                <a:ea typeface="Segoe UI" pitchFamily="34" charset="-122"/>
                <a:cs typeface="Segoe UI" pitchFamily="34" charset="-120"/>
              </a:rPr>
              <a:t>March 2026</a:t>
            </a:r>
            <a:endParaRPr lang="en-US" sz="1000" dirty="0"/>
          </a:p>
        </p:txBody>
      </p:sp>
      <p:sp>
        <p:nvSpPr>
          <p:cNvPr id="12" name="Shape 8"/>
          <p:cNvSpPr/>
          <p:nvPr/>
        </p:nvSpPr>
        <p:spPr>
          <a:xfrm>
            <a:off x="274320" y="2944368"/>
            <a:ext cx="8595360" cy="658368"/>
          </a:xfrm>
          <a:prstGeom prst="rect">
            <a:avLst/>
          </a:prstGeom>
          <a:solidFill>
            <a:srgbClr val="F2F0EE"/>
          </a:solidFill>
          <a:ln w="12700">
            <a:solidFill>
              <a:srgbClr val="F2F0EE"/>
            </a:solidFill>
            <a:prstDash val="solid"/>
          </a:ln>
        </p:spPr>
      </p:sp>
      <p:sp>
        <p:nvSpPr>
          <p:cNvPr id="13" name="Shape 9"/>
          <p:cNvSpPr/>
          <p:nvPr/>
        </p:nvSpPr>
        <p:spPr>
          <a:xfrm>
            <a:off x="274320" y="2944368"/>
            <a:ext cx="64008" cy="658368"/>
          </a:xfrm>
          <a:prstGeom prst="rect">
            <a:avLst/>
          </a:prstGeom>
          <a:solidFill>
            <a:srgbClr val="92D050"/>
          </a:solidFill>
          <a:ln w="12700">
            <a:solidFill>
              <a:srgbClr val="AE8F5D"/>
            </a:solidFill>
            <a:prstDash val="solid"/>
          </a:ln>
        </p:spPr>
      </p:sp>
      <p:sp>
        <p:nvSpPr>
          <p:cNvPr id="14" name="Text 10"/>
          <p:cNvSpPr/>
          <p:nvPr/>
        </p:nvSpPr>
        <p:spPr>
          <a:xfrm>
            <a:off x="411480" y="2999232"/>
            <a:ext cx="8394192" cy="548640"/>
          </a:xfrm>
          <a:prstGeom prst="rect">
            <a:avLst/>
          </a:prstGeom>
          <a:noFill/>
          <a:ln/>
        </p:spPr>
        <p:txBody>
          <a:bodyPr wrap="square" lIns="0" tIns="0" rIns="0" bIns="0" rtlCol="0" anchor="ctr"/>
          <a:lstStyle/>
          <a:p>
            <a:pPr marL="0" indent="0">
              <a:lnSpc>
                <a:spcPct val="135000"/>
              </a:lnSpc>
              <a:buNone/>
            </a:pPr>
            <a:r>
              <a:rPr lang="en-US" sz="950" i="1" dirty="0">
                <a:solidFill>
                  <a:srgbClr val="222B26"/>
                </a:solidFill>
                <a:latin typeface="Segoe UI" pitchFamily="34" charset="0"/>
                <a:ea typeface="Segoe UI" pitchFamily="34" charset="-122"/>
                <a:cs typeface="Segoe UI" pitchFamily="34" charset="-120"/>
              </a:rPr>
              <a:t>Note:  The goal of this session is to share what Calance built in the POC, walk through the fully integrated product vision, and align on the President's Letter template structure and data sourcing approach — the two inputs that drive everything forward.</a:t>
            </a:r>
            <a:endParaRPr lang="en-US" sz="950" dirty="0"/>
          </a:p>
        </p:txBody>
      </p:sp>
      <p:sp>
        <p:nvSpPr>
          <p:cNvPr id="15" name="Shape 11"/>
          <p:cNvSpPr/>
          <p:nvPr/>
        </p:nvSpPr>
        <p:spPr>
          <a:xfrm>
            <a:off x="274320" y="3730752"/>
            <a:ext cx="8595360" cy="54864"/>
          </a:xfrm>
          <a:prstGeom prst="rect">
            <a:avLst/>
          </a:prstGeom>
          <a:solidFill>
            <a:srgbClr val="679F7B"/>
          </a:solidFill>
          <a:ln w="12700">
            <a:solidFill>
              <a:srgbClr val="679F7B"/>
            </a:solidFill>
            <a:prstDash val="solid"/>
          </a:ln>
        </p:spPr>
      </p:sp>
      <p:sp>
        <p:nvSpPr>
          <p:cNvPr id="16" name="Shape 12"/>
          <p:cNvSpPr/>
          <p:nvPr/>
        </p:nvSpPr>
        <p:spPr>
          <a:xfrm>
            <a:off x="274320" y="3785616"/>
            <a:ext cx="1395984" cy="859536"/>
          </a:xfrm>
          <a:prstGeom prst="rect">
            <a:avLst/>
          </a:prstGeom>
          <a:solidFill>
            <a:srgbClr val="F2F0EE"/>
          </a:solidFill>
          <a:ln w="6350">
            <a:solidFill>
              <a:srgbClr val="D8D5CF"/>
            </a:solidFill>
            <a:prstDash val="solid"/>
          </a:ln>
        </p:spPr>
      </p:sp>
      <p:sp>
        <p:nvSpPr>
          <p:cNvPr id="17" name="Text 13"/>
          <p:cNvSpPr/>
          <p:nvPr/>
        </p:nvSpPr>
        <p:spPr>
          <a:xfrm>
            <a:off x="274320" y="3822192"/>
            <a:ext cx="1395984" cy="274320"/>
          </a:xfrm>
          <a:prstGeom prst="rect">
            <a:avLst/>
          </a:prstGeom>
          <a:noFill/>
          <a:ln/>
        </p:spPr>
        <p:txBody>
          <a:bodyPr wrap="square" lIns="0" tIns="0" rIns="0" bIns="0" rtlCol="0" anchor="ctr"/>
          <a:lstStyle/>
          <a:p>
            <a:pPr marL="0" indent="0" algn="ctr">
              <a:buNone/>
            </a:pPr>
            <a:r>
              <a:rPr lang="en-US" sz="1000" b="1" dirty="0">
                <a:solidFill>
                  <a:srgbClr val="679F7B"/>
                </a:solidFill>
                <a:latin typeface="Segoe UI" pitchFamily="34" charset="0"/>
                <a:ea typeface="Segoe UI" pitchFamily="34" charset="-122"/>
                <a:cs typeface="Segoe UI" pitchFamily="34" charset="-120"/>
              </a:rPr>
              <a:t>01</a:t>
            </a:r>
            <a:endParaRPr lang="en-US" sz="1000" dirty="0"/>
          </a:p>
        </p:txBody>
      </p:sp>
      <p:sp>
        <p:nvSpPr>
          <p:cNvPr id="18" name="Text 14"/>
          <p:cNvSpPr/>
          <p:nvPr/>
        </p:nvSpPr>
        <p:spPr>
          <a:xfrm>
            <a:off x="274320" y="4114800"/>
            <a:ext cx="1395984" cy="475488"/>
          </a:xfrm>
          <a:prstGeom prst="rect">
            <a:avLst/>
          </a:prstGeom>
          <a:noFill/>
          <a:ln/>
        </p:spPr>
        <p:txBody>
          <a:bodyPr wrap="square" lIns="0" tIns="0" rIns="0" bIns="0" rtlCol="0" anchor="ctr"/>
          <a:lstStyle/>
          <a:p>
            <a:pPr marL="0" indent="0" algn="ctr">
              <a:buNone/>
            </a:pPr>
            <a:r>
              <a:rPr lang="en-US" sz="900" dirty="0">
                <a:solidFill>
                  <a:srgbClr val="222B26"/>
                </a:solidFill>
                <a:latin typeface="Segoe UI" pitchFamily="34" charset="0"/>
                <a:ea typeface="Segoe UI" pitchFamily="34" charset="-122"/>
                <a:cs typeface="Segoe UI" pitchFamily="34" charset="-120"/>
              </a:rPr>
              <a:t>Scout Lifecycle</a:t>
            </a:r>
            <a:endParaRPr lang="en-US" sz="900" dirty="0"/>
          </a:p>
        </p:txBody>
      </p:sp>
      <p:sp>
        <p:nvSpPr>
          <p:cNvPr id="19" name="Shape 15"/>
          <p:cNvSpPr/>
          <p:nvPr/>
        </p:nvSpPr>
        <p:spPr>
          <a:xfrm>
            <a:off x="1706880" y="3785616"/>
            <a:ext cx="1395984" cy="859536"/>
          </a:xfrm>
          <a:prstGeom prst="rect">
            <a:avLst/>
          </a:prstGeom>
          <a:solidFill>
            <a:srgbClr val="FFFFFF"/>
          </a:solidFill>
          <a:ln w="6350">
            <a:solidFill>
              <a:srgbClr val="D8D5CF"/>
            </a:solidFill>
            <a:prstDash val="solid"/>
          </a:ln>
        </p:spPr>
      </p:sp>
      <p:sp>
        <p:nvSpPr>
          <p:cNvPr id="20" name="Text 16"/>
          <p:cNvSpPr/>
          <p:nvPr/>
        </p:nvSpPr>
        <p:spPr>
          <a:xfrm>
            <a:off x="1706880" y="3822192"/>
            <a:ext cx="1395984" cy="274320"/>
          </a:xfrm>
          <a:prstGeom prst="rect">
            <a:avLst/>
          </a:prstGeom>
          <a:noFill/>
          <a:ln/>
        </p:spPr>
        <p:txBody>
          <a:bodyPr wrap="square" lIns="0" tIns="0" rIns="0" bIns="0" rtlCol="0" anchor="ctr"/>
          <a:lstStyle/>
          <a:p>
            <a:pPr marL="0" indent="0" algn="ctr">
              <a:buNone/>
            </a:pPr>
            <a:r>
              <a:rPr lang="en-US" sz="1000" b="1" dirty="0">
                <a:solidFill>
                  <a:srgbClr val="679F7B"/>
                </a:solidFill>
                <a:latin typeface="Segoe UI" pitchFamily="34" charset="0"/>
                <a:ea typeface="Segoe UI" pitchFamily="34" charset="-122"/>
                <a:cs typeface="Segoe UI" pitchFamily="34" charset="-120"/>
              </a:rPr>
              <a:t>02</a:t>
            </a:r>
            <a:endParaRPr lang="en-US" sz="1000" dirty="0"/>
          </a:p>
        </p:txBody>
      </p:sp>
      <p:sp>
        <p:nvSpPr>
          <p:cNvPr id="21" name="Text 17"/>
          <p:cNvSpPr/>
          <p:nvPr/>
        </p:nvSpPr>
        <p:spPr>
          <a:xfrm>
            <a:off x="1706880" y="4114800"/>
            <a:ext cx="1395984" cy="475488"/>
          </a:xfrm>
          <a:prstGeom prst="rect">
            <a:avLst/>
          </a:prstGeom>
          <a:noFill/>
          <a:ln/>
        </p:spPr>
        <p:txBody>
          <a:bodyPr wrap="square" lIns="0" tIns="0" rIns="0" bIns="0" rtlCol="0" anchor="ctr"/>
          <a:lstStyle/>
          <a:p>
            <a:pPr marL="0" indent="0" algn="ctr">
              <a:buNone/>
            </a:pPr>
            <a:r>
              <a:rPr lang="en-US" sz="900" dirty="0">
                <a:solidFill>
                  <a:srgbClr val="222B26"/>
                </a:solidFill>
                <a:latin typeface="Segoe UI" pitchFamily="34" charset="0"/>
                <a:ea typeface="Segoe UI" pitchFamily="34" charset="-122"/>
                <a:cs typeface="Segoe UI" pitchFamily="34" charset="-120"/>
              </a:rPr>
              <a:t>POC → Product</a:t>
            </a:r>
            <a:endParaRPr lang="en-US" sz="900" dirty="0"/>
          </a:p>
        </p:txBody>
      </p:sp>
      <p:sp>
        <p:nvSpPr>
          <p:cNvPr id="22" name="Shape 18"/>
          <p:cNvSpPr/>
          <p:nvPr/>
        </p:nvSpPr>
        <p:spPr>
          <a:xfrm>
            <a:off x="3139440" y="3785616"/>
            <a:ext cx="1395984" cy="859536"/>
          </a:xfrm>
          <a:prstGeom prst="rect">
            <a:avLst/>
          </a:prstGeom>
          <a:solidFill>
            <a:srgbClr val="F2F0EE"/>
          </a:solidFill>
          <a:ln w="6350">
            <a:solidFill>
              <a:srgbClr val="D8D5CF"/>
            </a:solidFill>
            <a:prstDash val="solid"/>
          </a:ln>
        </p:spPr>
      </p:sp>
      <p:sp>
        <p:nvSpPr>
          <p:cNvPr id="23" name="Text 19"/>
          <p:cNvSpPr/>
          <p:nvPr/>
        </p:nvSpPr>
        <p:spPr>
          <a:xfrm>
            <a:off x="3139440" y="3822192"/>
            <a:ext cx="1395984" cy="274320"/>
          </a:xfrm>
          <a:prstGeom prst="rect">
            <a:avLst/>
          </a:prstGeom>
          <a:noFill/>
          <a:ln/>
        </p:spPr>
        <p:txBody>
          <a:bodyPr wrap="square" lIns="0" tIns="0" rIns="0" bIns="0" rtlCol="0" anchor="ctr"/>
          <a:lstStyle/>
          <a:p>
            <a:pPr marL="0" indent="0" algn="ctr">
              <a:buNone/>
            </a:pPr>
            <a:r>
              <a:rPr lang="en-US" sz="1000" b="1" dirty="0">
                <a:solidFill>
                  <a:srgbClr val="679F7B"/>
                </a:solidFill>
                <a:latin typeface="Segoe UI" pitchFamily="34" charset="0"/>
                <a:ea typeface="Segoe UI" pitchFamily="34" charset="-122"/>
                <a:cs typeface="Segoe UI" pitchFamily="34" charset="-120"/>
              </a:rPr>
              <a:t>03</a:t>
            </a:r>
            <a:endParaRPr lang="en-US" sz="1000" dirty="0"/>
          </a:p>
        </p:txBody>
      </p:sp>
      <p:sp>
        <p:nvSpPr>
          <p:cNvPr id="24" name="Text 20"/>
          <p:cNvSpPr/>
          <p:nvPr/>
        </p:nvSpPr>
        <p:spPr>
          <a:xfrm>
            <a:off x="3139440" y="4114800"/>
            <a:ext cx="1395984" cy="475488"/>
          </a:xfrm>
          <a:prstGeom prst="rect">
            <a:avLst/>
          </a:prstGeom>
          <a:noFill/>
          <a:ln/>
        </p:spPr>
        <p:txBody>
          <a:bodyPr wrap="square" lIns="0" tIns="0" rIns="0" bIns="0" rtlCol="0" anchor="ctr"/>
          <a:lstStyle/>
          <a:p>
            <a:pPr marL="0" indent="0" algn="ctr">
              <a:buNone/>
            </a:pPr>
            <a:r>
              <a:rPr lang="en-US" sz="900" dirty="0">
                <a:solidFill>
                  <a:srgbClr val="222B26"/>
                </a:solidFill>
                <a:latin typeface="Segoe UI" pitchFamily="34" charset="0"/>
                <a:ea typeface="Segoe UI" pitchFamily="34" charset="-122"/>
                <a:cs typeface="Segoe UI" pitchFamily="34" charset="-120"/>
              </a:rPr>
              <a:t>Product Screens</a:t>
            </a:r>
            <a:endParaRPr lang="en-US" sz="900" dirty="0"/>
          </a:p>
        </p:txBody>
      </p:sp>
      <p:sp>
        <p:nvSpPr>
          <p:cNvPr id="25" name="Shape 21"/>
          <p:cNvSpPr/>
          <p:nvPr/>
        </p:nvSpPr>
        <p:spPr>
          <a:xfrm>
            <a:off x="4572000" y="3785616"/>
            <a:ext cx="1395984" cy="859536"/>
          </a:xfrm>
          <a:prstGeom prst="rect">
            <a:avLst/>
          </a:prstGeom>
          <a:solidFill>
            <a:srgbClr val="FFFFFF"/>
          </a:solidFill>
          <a:ln w="6350">
            <a:solidFill>
              <a:srgbClr val="D8D5CF"/>
            </a:solidFill>
            <a:prstDash val="solid"/>
          </a:ln>
        </p:spPr>
      </p:sp>
      <p:sp>
        <p:nvSpPr>
          <p:cNvPr id="26" name="Text 22"/>
          <p:cNvSpPr/>
          <p:nvPr/>
        </p:nvSpPr>
        <p:spPr>
          <a:xfrm>
            <a:off x="4572000" y="3822192"/>
            <a:ext cx="1395984" cy="274320"/>
          </a:xfrm>
          <a:prstGeom prst="rect">
            <a:avLst/>
          </a:prstGeom>
          <a:noFill/>
          <a:ln/>
        </p:spPr>
        <p:txBody>
          <a:bodyPr wrap="square" lIns="0" tIns="0" rIns="0" bIns="0" rtlCol="0" anchor="ctr"/>
          <a:lstStyle/>
          <a:p>
            <a:pPr marL="0" indent="0" algn="ctr">
              <a:buNone/>
            </a:pPr>
            <a:r>
              <a:rPr lang="en-US" sz="1000" b="1" dirty="0">
                <a:solidFill>
                  <a:srgbClr val="679F7B"/>
                </a:solidFill>
                <a:latin typeface="Segoe UI" pitchFamily="34" charset="0"/>
                <a:ea typeface="Segoe UI" pitchFamily="34" charset="-122"/>
                <a:cs typeface="Segoe UI" pitchFamily="34" charset="-120"/>
              </a:rPr>
              <a:t>04</a:t>
            </a:r>
            <a:endParaRPr lang="en-US" sz="1000" dirty="0"/>
          </a:p>
        </p:txBody>
      </p:sp>
      <p:sp>
        <p:nvSpPr>
          <p:cNvPr id="27" name="Text 23"/>
          <p:cNvSpPr/>
          <p:nvPr/>
        </p:nvSpPr>
        <p:spPr>
          <a:xfrm>
            <a:off x="4572000" y="4114800"/>
            <a:ext cx="1395984" cy="475488"/>
          </a:xfrm>
          <a:prstGeom prst="rect">
            <a:avLst/>
          </a:prstGeom>
          <a:noFill/>
          <a:ln/>
        </p:spPr>
        <p:txBody>
          <a:bodyPr wrap="square" lIns="0" tIns="0" rIns="0" bIns="0" rtlCol="0" anchor="ctr"/>
          <a:lstStyle/>
          <a:p>
            <a:pPr marL="0" indent="0" algn="ctr">
              <a:buNone/>
            </a:pPr>
            <a:r>
              <a:rPr lang="en-US" sz="900" dirty="0">
                <a:solidFill>
                  <a:srgbClr val="222B26"/>
                </a:solidFill>
                <a:latin typeface="Segoe UI" pitchFamily="34" charset="0"/>
                <a:ea typeface="Segoe UI" pitchFamily="34" charset="-122"/>
                <a:cs typeface="Segoe UI" pitchFamily="34" charset="-120"/>
              </a:rPr>
              <a:t>Architecture</a:t>
            </a:r>
            <a:endParaRPr lang="en-US" sz="900" dirty="0"/>
          </a:p>
        </p:txBody>
      </p:sp>
      <p:sp>
        <p:nvSpPr>
          <p:cNvPr id="28" name="Shape 24"/>
          <p:cNvSpPr/>
          <p:nvPr/>
        </p:nvSpPr>
        <p:spPr>
          <a:xfrm>
            <a:off x="6004560" y="3785616"/>
            <a:ext cx="1395984" cy="859536"/>
          </a:xfrm>
          <a:prstGeom prst="rect">
            <a:avLst/>
          </a:prstGeom>
          <a:solidFill>
            <a:srgbClr val="F2F0EE"/>
          </a:solidFill>
          <a:ln w="6350">
            <a:solidFill>
              <a:srgbClr val="D8D5CF"/>
            </a:solidFill>
            <a:prstDash val="solid"/>
          </a:ln>
        </p:spPr>
      </p:sp>
      <p:sp>
        <p:nvSpPr>
          <p:cNvPr id="29" name="Text 25"/>
          <p:cNvSpPr/>
          <p:nvPr/>
        </p:nvSpPr>
        <p:spPr>
          <a:xfrm>
            <a:off x="6004560" y="3822192"/>
            <a:ext cx="1395984" cy="274320"/>
          </a:xfrm>
          <a:prstGeom prst="rect">
            <a:avLst/>
          </a:prstGeom>
          <a:noFill/>
          <a:ln/>
        </p:spPr>
        <p:txBody>
          <a:bodyPr wrap="square" lIns="0" tIns="0" rIns="0" bIns="0" rtlCol="0" anchor="ctr"/>
          <a:lstStyle/>
          <a:p>
            <a:pPr marL="0" indent="0" algn="ctr">
              <a:buNone/>
            </a:pPr>
            <a:r>
              <a:rPr lang="en-US" sz="1000" b="1" dirty="0">
                <a:solidFill>
                  <a:srgbClr val="679F7B"/>
                </a:solidFill>
                <a:latin typeface="Segoe UI" pitchFamily="34" charset="0"/>
                <a:ea typeface="Segoe UI" pitchFamily="34" charset="-122"/>
                <a:cs typeface="Segoe UI" pitchFamily="34" charset="-120"/>
              </a:rPr>
              <a:t>05</a:t>
            </a:r>
            <a:endParaRPr lang="en-US" sz="1000" dirty="0"/>
          </a:p>
        </p:txBody>
      </p:sp>
      <p:sp>
        <p:nvSpPr>
          <p:cNvPr id="30" name="Text 26"/>
          <p:cNvSpPr/>
          <p:nvPr/>
        </p:nvSpPr>
        <p:spPr>
          <a:xfrm>
            <a:off x="6004560" y="4114800"/>
            <a:ext cx="1395984" cy="475488"/>
          </a:xfrm>
          <a:prstGeom prst="rect">
            <a:avLst/>
          </a:prstGeom>
          <a:noFill/>
          <a:ln/>
        </p:spPr>
        <p:txBody>
          <a:bodyPr wrap="square" lIns="0" tIns="0" rIns="0" bIns="0" rtlCol="0" anchor="ctr"/>
          <a:lstStyle/>
          <a:p>
            <a:pPr marL="0" indent="0" algn="ctr">
              <a:buNone/>
            </a:pPr>
            <a:r>
              <a:rPr lang="en-US" sz="900" dirty="0">
                <a:solidFill>
                  <a:srgbClr val="222B26"/>
                </a:solidFill>
                <a:latin typeface="Segoe UI" pitchFamily="34" charset="0"/>
                <a:ea typeface="Segoe UI" pitchFamily="34" charset="-122"/>
                <a:cs typeface="Segoe UI" pitchFamily="34" charset="-120"/>
              </a:rPr>
              <a:t>Timeline</a:t>
            </a:r>
            <a:endParaRPr lang="en-US" sz="900" dirty="0"/>
          </a:p>
        </p:txBody>
      </p:sp>
      <p:sp>
        <p:nvSpPr>
          <p:cNvPr id="31" name="Shape 27"/>
          <p:cNvSpPr/>
          <p:nvPr/>
        </p:nvSpPr>
        <p:spPr>
          <a:xfrm>
            <a:off x="7437120" y="3785616"/>
            <a:ext cx="1395984" cy="859536"/>
          </a:xfrm>
          <a:prstGeom prst="rect">
            <a:avLst/>
          </a:prstGeom>
          <a:solidFill>
            <a:srgbClr val="FFFFFF"/>
          </a:solidFill>
          <a:ln w="6350">
            <a:solidFill>
              <a:srgbClr val="D8D5CF"/>
            </a:solidFill>
            <a:prstDash val="solid"/>
          </a:ln>
        </p:spPr>
      </p:sp>
      <p:sp>
        <p:nvSpPr>
          <p:cNvPr id="32" name="Text 28"/>
          <p:cNvSpPr/>
          <p:nvPr/>
        </p:nvSpPr>
        <p:spPr>
          <a:xfrm>
            <a:off x="7437120" y="3822192"/>
            <a:ext cx="1395984" cy="274320"/>
          </a:xfrm>
          <a:prstGeom prst="rect">
            <a:avLst/>
          </a:prstGeom>
          <a:noFill/>
          <a:ln/>
        </p:spPr>
        <p:txBody>
          <a:bodyPr wrap="square" lIns="0" tIns="0" rIns="0" bIns="0" rtlCol="0" anchor="ctr"/>
          <a:lstStyle/>
          <a:p>
            <a:pPr marL="0" indent="0" algn="ctr">
              <a:buNone/>
            </a:pPr>
            <a:r>
              <a:rPr lang="en-US" sz="1000" b="1" dirty="0">
                <a:solidFill>
                  <a:srgbClr val="679F7B"/>
                </a:solidFill>
                <a:latin typeface="Segoe UI" pitchFamily="34" charset="0"/>
                <a:ea typeface="Segoe UI" pitchFamily="34" charset="-122"/>
                <a:cs typeface="Segoe UI" pitchFamily="34" charset="-120"/>
              </a:rPr>
              <a:t>06</a:t>
            </a:r>
            <a:endParaRPr lang="en-US" sz="1000" dirty="0"/>
          </a:p>
        </p:txBody>
      </p:sp>
      <p:sp>
        <p:nvSpPr>
          <p:cNvPr id="33" name="Text 29"/>
          <p:cNvSpPr/>
          <p:nvPr/>
        </p:nvSpPr>
        <p:spPr>
          <a:xfrm>
            <a:off x="7437120" y="4114800"/>
            <a:ext cx="1395984" cy="475488"/>
          </a:xfrm>
          <a:prstGeom prst="rect">
            <a:avLst/>
          </a:prstGeom>
          <a:noFill/>
          <a:ln/>
        </p:spPr>
        <p:txBody>
          <a:bodyPr wrap="square" lIns="0" tIns="0" rIns="0" bIns="0" rtlCol="0" anchor="ctr"/>
          <a:lstStyle/>
          <a:p>
            <a:pPr marL="0" indent="0" algn="ctr">
              <a:buNone/>
            </a:pPr>
            <a:r>
              <a:rPr lang="en-US" sz="900" dirty="0">
                <a:solidFill>
                  <a:srgbClr val="222B26"/>
                </a:solidFill>
                <a:latin typeface="Segoe UI" pitchFamily="34" charset="0"/>
                <a:ea typeface="Segoe UI" pitchFamily="34" charset="-122"/>
                <a:cs typeface="Segoe UI" pitchFamily="34" charset="-120"/>
              </a:rPr>
              <a:t>Next Steps</a:t>
            </a:r>
            <a:endParaRPr lang="en-US" sz="900" dirty="0"/>
          </a:p>
        </p:txBody>
      </p:sp>
      <p:sp>
        <p:nvSpPr>
          <p:cNvPr id="34" name="Shape 30"/>
          <p:cNvSpPr/>
          <p:nvPr/>
        </p:nvSpPr>
        <p:spPr>
          <a:xfrm>
            <a:off x="274320" y="4882896"/>
            <a:ext cx="8595360" cy="0"/>
          </a:xfrm>
          <a:prstGeom prst="line">
            <a:avLst/>
          </a:prstGeom>
          <a:noFill/>
          <a:ln w="19050">
            <a:solidFill>
              <a:srgbClr val="679F7B"/>
            </a:solidFill>
            <a:prstDash val="solid"/>
          </a:ln>
        </p:spPr>
      </p:sp>
      <p:sp>
        <p:nvSpPr>
          <p:cNvPr id="35" name="Text 31"/>
          <p:cNvSpPr/>
          <p:nvPr/>
        </p:nvSpPr>
        <p:spPr>
          <a:xfrm>
            <a:off x="274320" y="4928616"/>
            <a:ext cx="859536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pic>
        <p:nvPicPr>
          <p:cNvPr id="37" name="Picture 36">
            <a:extLst>
              <a:ext uri="{FF2B5EF4-FFF2-40B4-BE49-F238E27FC236}">
                <a16:creationId xmlns:a16="http://schemas.microsoft.com/office/drawing/2014/main" id="{1FA50AA8-CCAD-34D5-C3D6-4F3C9CB3F7A8}"/>
              </a:ext>
            </a:extLst>
          </p:cNvPr>
          <p:cNvPicPr>
            <a:picLocks noChangeAspect="1"/>
          </p:cNvPicPr>
          <p:nvPr/>
        </p:nvPicPr>
        <p:blipFill>
          <a:blip r:embed="rId4"/>
          <a:stretch>
            <a:fillRect/>
          </a:stretch>
        </p:blipFill>
        <p:spPr>
          <a:xfrm>
            <a:off x="274320" y="84807"/>
            <a:ext cx="1718253" cy="3288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74320" y="73152"/>
            <a:ext cx="1417320" cy="283464"/>
          </a:xfrm>
          <a:prstGeom prst="rect">
            <a:avLst/>
          </a:prstGeom>
        </p:spPr>
      </p:pic>
      <p:sp>
        <p:nvSpPr>
          <p:cNvPr id="3" name="Text 0"/>
          <p:cNvSpPr/>
          <p:nvPr/>
        </p:nvSpPr>
        <p:spPr>
          <a:xfrm>
            <a:off x="6126480" y="109728"/>
            <a:ext cx="1371600" cy="182880"/>
          </a:xfrm>
          <a:prstGeom prst="rect">
            <a:avLst/>
          </a:prstGeom>
          <a:noFill/>
          <a:ln/>
        </p:spPr>
        <p:txBody>
          <a:bodyPr wrap="square" lIns="0" tIns="0" rIns="0" bIns="0" rtlCol="0" anchor="ctr"/>
          <a:lstStyle/>
          <a:p>
            <a:pPr marL="0" indent="0" algn="r">
              <a:buNone/>
            </a:pPr>
            <a:r>
              <a:rPr lang="en-US" sz="750" dirty="0">
                <a:solidFill>
                  <a:srgbClr val="9F9C8F"/>
                </a:solidFill>
                <a:latin typeface="Segoe UI" pitchFamily="34" charset="0"/>
                <a:ea typeface="Segoe UI" pitchFamily="34" charset="-122"/>
                <a:cs typeface="Segoe UI" pitchFamily="34" charset="-120"/>
              </a:rPr>
              <a:t>In partnership with</a:t>
            </a:r>
            <a:endParaRPr lang="en-US" sz="750" dirty="0"/>
          </a:p>
        </p:txBody>
      </p:sp>
      <p:pic>
        <p:nvPicPr>
          <p:cNvPr id="4" name="Image 1" descr="preencoded.png"/>
          <p:cNvPicPr>
            <a:picLocks noChangeAspect="1"/>
          </p:cNvPicPr>
          <p:nvPr/>
        </p:nvPicPr>
        <p:blipFill>
          <a:blip r:embed="rId4"/>
          <a:srcRect/>
          <a:stretch/>
        </p:blipFill>
        <p:spPr>
          <a:xfrm>
            <a:off x="7571232" y="36576"/>
            <a:ext cx="1298448" cy="356616"/>
          </a:xfrm>
          <a:prstGeom prst="rect">
            <a:avLst/>
          </a:prstGeom>
        </p:spPr>
      </p:pic>
      <p:sp>
        <p:nvSpPr>
          <p:cNvPr id="5" name="Shape 1"/>
          <p:cNvSpPr/>
          <p:nvPr/>
        </p:nvSpPr>
        <p:spPr>
          <a:xfrm>
            <a:off x="0" y="438912"/>
            <a:ext cx="9144000" cy="32004"/>
          </a:xfrm>
          <a:prstGeom prst="rect">
            <a:avLst/>
          </a:prstGeom>
          <a:solidFill>
            <a:srgbClr val="679F7B"/>
          </a:solidFill>
          <a:ln w="12700">
            <a:solidFill>
              <a:srgbClr val="679F7B"/>
            </a:solidFill>
            <a:prstDash val="solid"/>
          </a:ln>
        </p:spPr>
      </p:sp>
      <p:sp>
        <p:nvSpPr>
          <p:cNvPr id="6" name="Shape 2"/>
          <p:cNvSpPr/>
          <p:nvPr/>
        </p:nvSpPr>
        <p:spPr>
          <a:xfrm>
            <a:off x="274320" y="548640"/>
            <a:ext cx="8595360" cy="384048"/>
          </a:xfrm>
          <a:prstGeom prst="rect">
            <a:avLst/>
          </a:prstGeom>
          <a:solidFill>
            <a:srgbClr val="679F7B"/>
          </a:solidFill>
          <a:ln w="12700">
            <a:solidFill>
              <a:srgbClr val="679F7B"/>
            </a:solidFill>
            <a:prstDash val="solid"/>
          </a:ln>
        </p:spPr>
      </p:sp>
      <p:sp>
        <p:nvSpPr>
          <p:cNvPr id="7" name="Text 3"/>
          <p:cNvSpPr/>
          <p:nvPr/>
        </p:nvSpPr>
        <p:spPr>
          <a:xfrm>
            <a:off x="411480" y="576072"/>
            <a:ext cx="8321040" cy="329184"/>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  Scout: An End-to-End Land Acquisition Platform</a:t>
            </a:r>
            <a:endParaRPr lang="en-US" sz="1300" dirty="0"/>
          </a:p>
        </p:txBody>
      </p:sp>
      <p:sp>
        <p:nvSpPr>
          <p:cNvPr id="8" name="Shape 4"/>
          <p:cNvSpPr/>
          <p:nvPr/>
        </p:nvSpPr>
        <p:spPr>
          <a:xfrm>
            <a:off x="256032" y="1060704"/>
            <a:ext cx="1508760" cy="2331720"/>
          </a:xfrm>
          <a:prstGeom prst="rect">
            <a:avLst/>
          </a:prstGeom>
          <a:solidFill>
            <a:srgbClr val="FFFFFF"/>
          </a:solidFill>
          <a:ln w="19050">
            <a:solidFill>
              <a:srgbClr val="2A5560"/>
            </a:solidFill>
            <a:prstDash val="solid"/>
          </a:ln>
        </p:spPr>
      </p:sp>
      <p:sp>
        <p:nvSpPr>
          <p:cNvPr id="9" name="Shape 5"/>
          <p:cNvSpPr/>
          <p:nvPr/>
        </p:nvSpPr>
        <p:spPr>
          <a:xfrm>
            <a:off x="256032" y="1060704"/>
            <a:ext cx="1508760" cy="420624"/>
          </a:xfrm>
          <a:prstGeom prst="rect">
            <a:avLst/>
          </a:prstGeom>
          <a:solidFill>
            <a:srgbClr val="2A5560"/>
          </a:solidFill>
          <a:ln w="12700">
            <a:solidFill>
              <a:srgbClr val="2A5560"/>
            </a:solidFill>
            <a:prstDash val="solid"/>
          </a:ln>
        </p:spPr>
      </p:sp>
      <p:sp>
        <p:nvSpPr>
          <p:cNvPr id="10" name="Text 6"/>
          <p:cNvSpPr/>
          <p:nvPr/>
        </p:nvSpPr>
        <p:spPr>
          <a:xfrm>
            <a:off x="347472" y="1124712"/>
            <a:ext cx="329184" cy="292608"/>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01</a:t>
            </a:r>
            <a:endParaRPr lang="en-US" sz="1100" dirty="0"/>
          </a:p>
        </p:txBody>
      </p:sp>
      <p:sp>
        <p:nvSpPr>
          <p:cNvPr id="11" name="Text 7"/>
          <p:cNvSpPr/>
          <p:nvPr/>
        </p:nvSpPr>
        <p:spPr>
          <a:xfrm>
            <a:off x="301752" y="1554480"/>
            <a:ext cx="1417320" cy="237744"/>
          </a:xfrm>
          <a:prstGeom prst="rect">
            <a:avLst/>
          </a:prstGeom>
          <a:noFill/>
          <a:ln/>
        </p:spPr>
        <p:txBody>
          <a:bodyPr wrap="square" lIns="0" tIns="0" rIns="0" bIns="0" rtlCol="0" anchor="ctr"/>
          <a:lstStyle/>
          <a:p>
            <a:pPr marL="0" indent="0" algn="ctr">
              <a:buNone/>
            </a:pPr>
            <a:r>
              <a:rPr lang="en-US" sz="700" b="1" kern="0" spc="50" dirty="0">
                <a:solidFill>
                  <a:srgbClr val="2A5560"/>
                </a:solidFill>
                <a:latin typeface="Segoe UI" pitchFamily="34" charset="0"/>
                <a:ea typeface="Segoe UI" pitchFamily="34" charset="-122"/>
                <a:cs typeface="Segoe UI" pitchFamily="34" charset="-120"/>
              </a:rPr>
              <a:t>INPUT</a:t>
            </a:r>
            <a:endParaRPr lang="en-US" sz="700" dirty="0"/>
          </a:p>
        </p:txBody>
      </p:sp>
      <p:sp>
        <p:nvSpPr>
          <p:cNvPr id="12" name="Text 8"/>
          <p:cNvSpPr/>
          <p:nvPr/>
        </p:nvSpPr>
        <p:spPr>
          <a:xfrm>
            <a:off x="329184" y="1847088"/>
            <a:ext cx="1362456" cy="530352"/>
          </a:xfrm>
          <a:prstGeom prst="rect">
            <a:avLst/>
          </a:prstGeom>
          <a:noFill/>
          <a:ln/>
        </p:spPr>
        <p:txBody>
          <a:bodyPr wrap="square" lIns="0" tIns="0" rIns="0" bIns="0" rtlCol="0" anchor="ctr"/>
          <a:lstStyle/>
          <a:p>
            <a:pPr marL="0" indent="0">
              <a:buNone/>
            </a:pPr>
            <a:r>
              <a:rPr lang="en-US" sz="1150" b="1" dirty="0">
                <a:solidFill>
                  <a:srgbClr val="222B26"/>
                </a:solidFill>
                <a:latin typeface="Segoe UI" pitchFamily="34" charset="0"/>
                <a:ea typeface="Segoe UI" pitchFamily="34" charset="-122"/>
                <a:cs typeface="Segoe UI" pitchFamily="34" charset="-120"/>
              </a:rPr>
              <a:t>Research &amp;</a:t>
            </a:r>
            <a:endParaRPr lang="en-US" sz="1150" dirty="0"/>
          </a:p>
          <a:p>
            <a:pPr marL="0" indent="0">
              <a:buNone/>
            </a:pPr>
            <a:r>
              <a:rPr lang="en-US" sz="1150" b="1" dirty="0">
                <a:solidFill>
                  <a:srgbClr val="222B26"/>
                </a:solidFill>
                <a:latin typeface="Segoe UI" pitchFamily="34" charset="0"/>
                <a:ea typeface="Segoe UI" pitchFamily="34" charset="-122"/>
                <a:cs typeface="Segoe UI" pitchFamily="34" charset="-120"/>
              </a:rPr>
              <a:t>Input</a:t>
            </a:r>
            <a:endParaRPr lang="en-US" sz="1150" dirty="0"/>
          </a:p>
        </p:txBody>
      </p:sp>
      <p:sp>
        <p:nvSpPr>
          <p:cNvPr id="13" name="Text 9"/>
          <p:cNvSpPr/>
          <p:nvPr/>
        </p:nvSpPr>
        <p:spPr>
          <a:xfrm>
            <a:off x="329184" y="2450592"/>
            <a:ext cx="1362456" cy="713232"/>
          </a:xfrm>
          <a:prstGeom prst="rect">
            <a:avLst/>
          </a:prstGeom>
          <a:noFill/>
          <a:ln/>
        </p:spPr>
        <p:txBody>
          <a:bodyPr wrap="square" lIns="0" tIns="0" rIns="0" bIns="0" rtlCol="0" anchor="ctr"/>
          <a:lstStyle/>
          <a:p>
            <a:pPr marL="0" indent="0">
              <a:buNone/>
            </a:pPr>
            <a:r>
              <a:rPr lang="en-US" sz="900" dirty="0">
                <a:solidFill>
                  <a:srgbClr val="9F9C8F"/>
                </a:solidFill>
                <a:latin typeface="Segoe UI" pitchFamily="34" charset="0"/>
                <a:ea typeface="Segoe UI" pitchFamily="34" charset="-122"/>
                <a:cs typeface="Segoe UI" pitchFamily="34" charset="-120"/>
              </a:rPr>
              <a:t>Site data, community</a:t>
            </a:r>
            <a:endParaRPr lang="en-US" sz="900" dirty="0"/>
          </a:p>
          <a:p>
            <a:pPr marL="0" indent="0">
              <a:buNone/>
            </a:pPr>
            <a:r>
              <a:rPr lang="en-US" sz="900" dirty="0">
                <a:solidFill>
                  <a:srgbClr val="9F9C8F"/>
                </a:solidFill>
                <a:latin typeface="Segoe UI" pitchFamily="34" charset="0"/>
                <a:ea typeface="Segoe UI" pitchFamily="34" charset="-122"/>
                <a:cs typeface="Segoe UI" pitchFamily="34" charset="-120"/>
              </a:rPr>
              <a:t>context, deal details</a:t>
            </a:r>
            <a:endParaRPr lang="en-US" sz="900" dirty="0"/>
          </a:p>
        </p:txBody>
      </p:sp>
      <p:sp>
        <p:nvSpPr>
          <p:cNvPr id="14" name="Shape 10"/>
          <p:cNvSpPr/>
          <p:nvPr/>
        </p:nvSpPr>
        <p:spPr>
          <a:xfrm>
            <a:off x="1801368" y="2107692"/>
            <a:ext cx="128016" cy="237744"/>
          </a:xfrm>
          <a:prstGeom prst="rect">
            <a:avLst/>
          </a:prstGeom>
          <a:solidFill>
            <a:srgbClr val="AE8F5D"/>
          </a:solidFill>
          <a:ln w="12700">
            <a:solidFill>
              <a:srgbClr val="AE8F5D"/>
            </a:solidFill>
            <a:prstDash val="solid"/>
          </a:ln>
        </p:spPr>
      </p:sp>
      <p:sp>
        <p:nvSpPr>
          <p:cNvPr id="15" name="Text 11"/>
          <p:cNvSpPr/>
          <p:nvPr/>
        </p:nvSpPr>
        <p:spPr>
          <a:xfrm>
            <a:off x="1801368" y="2089404"/>
            <a:ext cx="128016" cy="274320"/>
          </a:xfrm>
          <a:prstGeom prst="rect">
            <a:avLst/>
          </a:prstGeom>
          <a:noFill/>
          <a:ln/>
        </p:spPr>
        <p:txBody>
          <a:bodyPr wrap="square" lIns="0" tIns="0" rIns="0" bIns="0" rtlCol="0" anchor="ctr"/>
          <a:lstStyle/>
          <a:p>
            <a:pPr marL="0" indent="0" algn="ctr">
              <a:buNone/>
            </a:pPr>
            <a:r>
              <a:rPr lang="en-US" sz="1000" dirty="0">
                <a:solidFill>
                  <a:srgbClr val="FFFFFF"/>
                </a:solidFill>
                <a:latin typeface="Segoe UI" pitchFamily="34" charset="0"/>
                <a:ea typeface="Segoe UI" pitchFamily="34" charset="-122"/>
                <a:cs typeface="Segoe UI" pitchFamily="34" charset="-120"/>
              </a:rPr>
              <a:t>▶</a:t>
            </a:r>
            <a:endParaRPr lang="en-US" sz="1000" dirty="0"/>
          </a:p>
        </p:txBody>
      </p:sp>
      <p:sp>
        <p:nvSpPr>
          <p:cNvPr id="16" name="Shape 12"/>
          <p:cNvSpPr/>
          <p:nvPr/>
        </p:nvSpPr>
        <p:spPr>
          <a:xfrm>
            <a:off x="1965960" y="1060704"/>
            <a:ext cx="1508760" cy="2331720"/>
          </a:xfrm>
          <a:prstGeom prst="rect">
            <a:avLst/>
          </a:prstGeom>
          <a:solidFill>
            <a:srgbClr val="FFFFFF"/>
          </a:solidFill>
          <a:ln w="19050">
            <a:solidFill>
              <a:srgbClr val="3A7D6A"/>
            </a:solidFill>
            <a:prstDash val="solid"/>
          </a:ln>
        </p:spPr>
      </p:sp>
      <p:sp>
        <p:nvSpPr>
          <p:cNvPr id="17" name="Shape 13"/>
          <p:cNvSpPr/>
          <p:nvPr/>
        </p:nvSpPr>
        <p:spPr>
          <a:xfrm>
            <a:off x="1965960" y="1060704"/>
            <a:ext cx="1508760" cy="420624"/>
          </a:xfrm>
          <a:prstGeom prst="rect">
            <a:avLst/>
          </a:prstGeom>
          <a:solidFill>
            <a:srgbClr val="3A7D6A"/>
          </a:solidFill>
          <a:ln w="12700">
            <a:solidFill>
              <a:srgbClr val="3A7D6A"/>
            </a:solidFill>
            <a:prstDash val="solid"/>
          </a:ln>
        </p:spPr>
      </p:sp>
      <p:sp>
        <p:nvSpPr>
          <p:cNvPr id="18" name="Text 14"/>
          <p:cNvSpPr/>
          <p:nvPr/>
        </p:nvSpPr>
        <p:spPr>
          <a:xfrm>
            <a:off x="2057400" y="1124712"/>
            <a:ext cx="329184" cy="292608"/>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02</a:t>
            </a:r>
            <a:endParaRPr lang="en-US" sz="1100" dirty="0"/>
          </a:p>
        </p:txBody>
      </p:sp>
      <p:sp>
        <p:nvSpPr>
          <p:cNvPr id="19" name="Text 15"/>
          <p:cNvSpPr/>
          <p:nvPr/>
        </p:nvSpPr>
        <p:spPr>
          <a:xfrm>
            <a:off x="2011680" y="1554480"/>
            <a:ext cx="1417320" cy="237744"/>
          </a:xfrm>
          <a:prstGeom prst="rect">
            <a:avLst/>
          </a:prstGeom>
          <a:noFill/>
          <a:ln/>
        </p:spPr>
        <p:txBody>
          <a:bodyPr wrap="square" lIns="0" tIns="0" rIns="0" bIns="0" rtlCol="0" anchor="ctr"/>
          <a:lstStyle/>
          <a:p>
            <a:pPr marL="0" indent="0" algn="ctr">
              <a:buNone/>
            </a:pPr>
            <a:r>
              <a:rPr lang="en-US" sz="700" b="1" kern="0" spc="50" dirty="0">
                <a:solidFill>
                  <a:srgbClr val="3A7D6A"/>
                </a:solidFill>
                <a:latin typeface="Segoe UI" pitchFamily="34" charset="0"/>
                <a:ea typeface="Segoe UI" pitchFamily="34" charset="-122"/>
                <a:cs typeface="Segoe UI" pitchFamily="34" charset="-120"/>
              </a:rPr>
              <a:t>LAR CRITERIA</a:t>
            </a:r>
            <a:endParaRPr lang="en-US" sz="700" dirty="0"/>
          </a:p>
        </p:txBody>
      </p:sp>
      <p:sp>
        <p:nvSpPr>
          <p:cNvPr id="20" name="Text 16"/>
          <p:cNvSpPr/>
          <p:nvPr/>
        </p:nvSpPr>
        <p:spPr>
          <a:xfrm>
            <a:off x="2039112" y="1847088"/>
            <a:ext cx="1362456" cy="530352"/>
          </a:xfrm>
          <a:prstGeom prst="rect">
            <a:avLst/>
          </a:prstGeom>
          <a:noFill/>
          <a:ln/>
        </p:spPr>
        <p:txBody>
          <a:bodyPr wrap="square" lIns="0" tIns="0" rIns="0" bIns="0" rtlCol="0" anchor="ctr"/>
          <a:lstStyle/>
          <a:p>
            <a:pPr marL="0" indent="0">
              <a:buNone/>
            </a:pPr>
            <a:r>
              <a:rPr lang="en-US" sz="1150" b="1" dirty="0">
                <a:solidFill>
                  <a:srgbClr val="222B26"/>
                </a:solidFill>
                <a:latin typeface="Segoe UI" pitchFamily="34" charset="0"/>
                <a:ea typeface="Segoe UI" pitchFamily="34" charset="-122"/>
                <a:cs typeface="Segoe UI" pitchFamily="34" charset="-120"/>
              </a:rPr>
              <a:t>Comparison</a:t>
            </a:r>
            <a:endParaRPr lang="en-US" sz="1150" dirty="0"/>
          </a:p>
          <a:p>
            <a:pPr marL="0" indent="0">
              <a:buNone/>
            </a:pPr>
            <a:r>
              <a:rPr lang="en-US" sz="1150" b="1" dirty="0">
                <a:solidFill>
                  <a:srgbClr val="222B26"/>
                </a:solidFill>
                <a:latin typeface="Segoe UI" pitchFamily="34" charset="0"/>
                <a:ea typeface="Segoe UI" pitchFamily="34" charset="-122"/>
                <a:cs typeface="Segoe UI" pitchFamily="34" charset="-120"/>
              </a:rPr>
              <a:t>&amp; Analysis</a:t>
            </a:r>
            <a:endParaRPr lang="en-US" sz="1150" dirty="0"/>
          </a:p>
        </p:txBody>
      </p:sp>
      <p:sp>
        <p:nvSpPr>
          <p:cNvPr id="21" name="Text 17"/>
          <p:cNvSpPr/>
          <p:nvPr/>
        </p:nvSpPr>
        <p:spPr>
          <a:xfrm>
            <a:off x="2039112" y="2450592"/>
            <a:ext cx="1362456" cy="713232"/>
          </a:xfrm>
          <a:prstGeom prst="rect">
            <a:avLst/>
          </a:prstGeom>
          <a:noFill/>
          <a:ln/>
        </p:spPr>
        <p:txBody>
          <a:bodyPr wrap="square" lIns="0" tIns="0" rIns="0" bIns="0" rtlCol="0" anchor="ctr"/>
          <a:lstStyle/>
          <a:p>
            <a:pPr marL="0" indent="0">
              <a:buNone/>
            </a:pPr>
            <a:r>
              <a:rPr lang="en-US" sz="900" dirty="0">
                <a:solidFill>
                  <a:srgbClr val="9F9C8F"/>
                </a:solidFill>
                <a:latin typeface="Segoe UI" pitchFamily="34" charset="0"/>
                <a:ea typeface="Segoe UI" pitchFamily="34" charset="-122"/>
                <a:cs typeface="Segoe UI" pitchFamily="34" charset="-120"/>
              </a:rPr>
              <a:t>Market comparables,</a:t>
            </a:r>
            <a:endParaRPr lang="en-US" sz="900" dirty="0"/>
          </a:p>
          <a:p>
            <a:pPr marL="0" indent="0">
              <a:buNone/>
            </a:pPr>
            <a:r>
              <a:rPr lang="en-US" sz="900" dirty="0">
                <a:solidFill>
                  <a:srgbClr val="9F9C8F"/>
                </a:solidFill>
                <a:latin typeface="Segoe UI" pitchFamily="34" charset="0"/>
                <a:ea typeface="Segoe UI" pitchFamily="34" charset="-122"/>
                <a:cs typeface="Segoe UI" pitchFamily="34" charset="-120"/>
              </a:rPr>
              <a:t>resiliency scoring</a:t>
            </a:r>
            <a:endParaRPr lang="en-US" sz="900" dirty="0"/>
          </a:p>
        </p:txBody>
      </p:sp>
      <p:sp>
        <p:nvSpPr>
          <p:cNvPr id="22" name="Shape 18"/>
          <p:cNvSpPr/>
          <p:nvPr/>
        </p:nvSpPr>
        <p:spPr>
          <a:xfrm>
            <a:off x="3511296" y="2107692"/>
            <a:ext cx="128016" cy="237744"/>
          </a:xfrm>
          <a:prstGeom prst="rect">
            <a:avLst/>
          </a:prstGeom>
          <a:solidFill>
            <a:srgbClr val="AE8F5D"/>
          </a:solidFill>
          <a:ln w="12700">
            <a:solidFill>
              <a:srgbClr val="AE8F5D"/>
            </a:solidFill>
            <a:prstDash val="solid"/>
          </a:ln>
        </p:spPr>
      </p:sp>
      <p:sp>
        <p:nvSpPr>
          <p:cNvPr id="23" name="Text 19"/>
          <p:cNvSpPr/>
          <p:nvPr/>
        </p:nvSpPr>
        <p:spPr>
          <a:xfrm>
            <a:off x="3511296" y="2089404"/>
            <a:ext cx="128016" cy="274320"/>
          </a:xfrm>
          <a:prstGeom prst="rect">
            <a:avLst/>
          </a:prstGeom>
          <a:noFill/>
          <a:ln/>
        </p:spPr>
        <p:txBody>
          <a:bodyPr wrap="square" lIns="0" tIns="0" rIns="0" bIns="0" rtlCol="0" anchor="ctr"/>
          <a:lstStyle/>
          <a:p>
            <a:pPr marL="0" indent="0" algn="ctr">
              <a:buNone/>
            </a:pPr>
            <a:r>
              <a:rPr lang="en-US" sz="1000" dirty="0">
                <a:solidFill>
                  <a:srgbClr val="FFFFFF"/>
                </a:solidFill>
                <a:latin typeface="Segoe UI" pitchFamily="34" charset="0"/>
                <a:ea typeface="Segoe UI" pitchFamily="34" charset="-122"/>
                <a:cs typeface="Segoe UI" pitchFamily="34" charset="-120"/>
              </a:rPr>
              <a:t>▶</a:t>
            </a:r>
            <a:endParaRPr lang="en-US" sz="1000" dirty="0"/>
          </a:p>
        </p:txBody>
      </p:sp>
      <p:sp>
        <p:nvSpPr>
          <p:cNvPr id="24" name="Shape 20"/>
          <p:cNvSpPr/>
          <p:nvPr/>
        </p:nvSpPr>
        <p:spPr>
          <a:xfrm>
            <a:off x="3675888" y="1060704"/>
            <a:ext cx="1508760" cy="2331720"/>
          </a:xfrm>
          <a:prstGeom prst="rect">
            <a:avLst/>
          </a:prstGeom>
          <a:solidFill>
            <a:srgbClr val="FFFFFF"/>
          </a:solidFill>
          <a:ln w="19050">
            <a:solidFill>
              <a:srgbClr val="679F7B"/>
            </a:solidFill>
            <a:prstDash val="solid"/>
          </a:ln>
        </p:spPr>
      </p:sp>
      <p:sp>
        <p:nvSpPr>
          <p:cNvPr id="25" name="Shape 21"/>
          <p:cNvSpPr/>
          <p:nvPr/>
        </p:nvSpPr>
        <p:spPr>
          <a:xfrm>
            <a:off x="3675888" y="1060704"/>
            <a:ext cx="1508760" cy="420624"/>
          </a:xfrm>
          <a:prstGeom prst="rect">
            <a:avLst/>
          </a:prstGeom>
          <a:solidFill>
            <a:srgbClr val="679F7B"/>
          </a:solidFill>
          <a:ln w="12700">
            <a:solidFill>
              <a:srgbClr val="679F7B"/>
            </a:solidFill>
            <a:prstDash val="solid"/>
          </a:ln>
        </p:spPr>
      </p:sp>
      <p:sp>
        <p:nvSpPr>
          <p:cNvPr id="26" name="Text 22"/>
          <p:cNvSpPr/>
          <p:nvPr/>
        </p:nvSpPr>
        <p:spPr>
          <a:xfrm>
            <a:off x="3767328" y="1124712"/>
            <a:ext cx="329184" cy="292608"/>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03</a:t>
            </a:r>
            <a:endParaRPr lang="en-US" sz="1100" dirty="0"/>
          </a:p>
        </p:txBody>
      </p:sp>
      <p:sp>
        <p:nvSpPr>
          <p:cNvPr id="27" name="Text 23"/>
          <p:cNvSpPr/>
          <p:nvPr/>
        </p:nvSpPr>
        <p:spPr>
          <a:xfrm>
            <a:off x="3721608" y="1554480"/>
            <a:ext cx="1417320" cy="237744"/>
          </a:xfrm>
          <a:prstGeom prst="rect">
            <a:avLst/>
          </a:prstGeom>
          <a:noFill/>
          <a:ln/>
        </p:spPr>
        <p:txBody>
          <a:bodyPr wrap="square" lIns="0" tIns="0" rIns="0" bIns="0" rtlCol="0" anchor="ctr"/>
          <a:lstStyle/>
          <a:p>
            <a:pPr marL="0" indent="0" algn="ctr">
              <a:buNone/>
            </a:pPr>
            <a:r>
              <a:rPr lang="en-US" sz="700" b="1" kern="0" spc="50" dirty="0">
                <a:solidFill>
                  <a:srgbClr val="679F7B"/>
                </a:solidFill>
                <a:latin typeface="Segoe UI" pitchFamily="34" charset="0"/>
                <a:ea typeface="Segoe UI" pitchFamily="34" charset="-122"/>
                <a:cs typeface="Segoe UI" pitchFamily="34" charset="-120"/>
              </a:rPr>
              <a:t>TOP</a:t>
            </a:r>
            <a:endParaRPr lang="en-US" sz="700" dirty="0"/>
          </a:p>
        </p:txBody>
      </p:sp>
      <p:sp>
        <p:nvSpPr>
          <p:cNvPr id="28" name="Text 24"/>
          <p:cNvSpPr/>
          <p:nvPr/>
        </p:nvSpPr>
        <p:spPr>
          <a:xfrm>
            <a:off x="3749040" y="1847088"/>
            <a:ext cx="1362456" cy="530352"/>
          </a:xfrm>
          <a:prstGeom prst="rect">
            <a:avLst/>
          </a:prstGeom>
          <a:noFill/>
          <a:ln/>
        </p:spPr>
        <p:txBody>
          <a:bodyPr wrap="square" lIns="0" tIns="0" rIns="0" bIns="0" rtlCol="0" anchor="ctr"/>
          <a:lstStyle/>
          <a:p>
            <a:pPr marL="0" indent="0">
              <a:buNone/>
            </a:pPr>
            <a:r>
              <a:rPr lang="en-US" sz="1150" b="1" dirty="0">
                <a:solidFill>
                  <a:srgbClr val="222B26"/>
                </a:solidFill>
                <a:latin typeface="Segoe UI" pitchFamily="34" charset="0"/>
                <a:ea typeface="Segoe UI" pitchFamily="34" charset="-122"/>
                <a:cs typeface="Segoe UI" pitchFamily="34" charset="-120"/>
              </a:rPr>
              <a:t>Triangle of</a:t>
            </a:r>
            <a:endParaRPr lang="en-US" sz="1150" dirty="0"/>
          </a:p>
          <a:p>
            <a:pPr marL="0" indent="0">
              <a:buNone/>
            </a:pPr>
            <a:r>
              <a:rPr lang="en-US" sz="1150" b="1" dirty="0">
                <a:solidFill>
                  <a:srgbClr val="222B26"/>
                </a:solidFill>
                <a:latin typeface="Segoe UI" pitchFamily="34" charset="0"/>
                <a:ea typeface="Segoe UI" pitchFamily="34" charset="-122"/>
                <a:cs typeface="Segoe UI" pitchFamily="34" charset="-120"/>
              </a:rPr>
              <a:t>Potential</a:t>
            </a:r>
            <a:endParaRPr lang="en-US" sz="1150" dirty="0"/>
          </a:p>
        </p:txBody>
      </p:sp>
      <p:sp>
        <p:nvSpPr>
          <p:cNvPr id="29" name="Text 25"/>
          <p:cNvSpPr/>
          <p:nvPr/>
        </p:nvSpPr>
        <p:spPr>
          <a:xfrm>
            <a:off x="3749040" y="2450592"/>
            <a:ext cx="1362456" cy="713232"/>
          </a:xfrm>
          <a:prstGeom prst="rect">
            <a:avLst/>
          </a:prstGeom>
          <a:noFill/>
          <a:ln/>
        </p:spPr>
        <p:txBody>
          <a:bodyPr wrap="square" lIns="0" tIns="0" rIns="0" bIns="0" rtlCol="0" anchor="ctr"/>
          <a:lstStyle/>
          <a:p>
            <a:pPr marL="0" indent="0">
              <a:buNone/>
            </a:pPr>
            <a:r>
              <a:rPr lang="en-US" sz="900" dirty="0">
                <a:solidFill>
                  <a:srgbClr val="9F9C8F"/>
                </a:solidFill>
                <a:latin typeface="Segoe UI" pitchFamily="34" charset="0"/>
                <a:ea typeface="Segoe UI" pitchFamily="34" charset="-122"/>
                <a:cs typeface="Segoe UI" pitchFamily="34" charset="-120"/>
              </a:rPr>
              <a:t>Land value justification</a:t>
            </a:r>
            <a:endParaRPr lang="en-US" sz="900" dirty="0"/>
          </a:p>
          <a:p>
            <a:pPr marL="0" indent="0">
              <a:buNone/>
            </a:pPr>
            <a:r>
              <a:rPr lang="en-US" sz="900" dirty="0">
                <a:solidFill>
                  <a:srgbClr val="9F9C8F"/>
                </a:solidFill>
                <a:latin typeface="Segoe UI" pitchFamily="34" charset="0"/>
                <a:ea typeface="Segoe UI" pitchFamily="34" charset="-122"/>
                <a:cs typeface="Segoe UI" pitchFamily="34" charset="-120"/>
              </a:rPr>
              <a:t>framework</a:t>
            </a:r>
            <a:endParaRPr lang="en-US" sz="900" dirty="0"/>
          </a:p>
        </p:txBody>
      </p:sp>
      <p:sp>
        <p:nvSpPr>
          <p:cNvPr id="30" name="Shape 26"/>
          <p:cNvSpPr/>
          <p:nvPr/>
        </p:nvSpPr>
        <p:spPr>
          <a:xfrm>
            <a:off x="5221224" y="2107692"/>
            <a:ext cx="128016" cy="237744"/>
          </a:xfrm>
          <a:prstGeom prst="rect">
            <a:avLst/>
          </a:prstGeom>
          <a:solidFill>
            <a:srgbClr val="AE8F5D"/>
          </a:solidFill>
          <a:ln w="12700">
            <a:solidFill>
              <a:srgbClr val="AE8F5D"/>
            </a:solidFill>
            <a:prstDash val="solid"/>
          </a:ln>
        </p:spPr>
      </p:sp>
      <p:sp>
        <p:nvSpPr>
          <p:cNvPr id="31" name="Text 27"/>
          <p:cNvSpPr/>
          <p:nvPr/>
        </p:nvSpPr>
        <p:spPr>
          <a:xfrm>
            <a:off x="5221224" y="2089404"/>
            <a:ext cx="128016" cy="274320"/>
          </a:xfrm>
          <a:prstGeom prst="rect">
            <a:avLst/>
          </a:prstGeom>
          <a:noFill/>
          <a:ln/>
        </p:spPr>
        <p:txBody>
          <a:bodyPr wrap="square" lIns="0" tIns="0" rIns="0" bIns="0" rtlCol="0" anchor="ctr"/>
          <a:lstStyle/>
          <a:p>
            <a:pPr marL="0" indent="0" algn="ctr">
              <a:buNone/>
            </a:pPr>
            <a:r>
              <a:rPr lang="en-US" sz="1000" dirty="0">
                <a:solidFill>
                  <a:srgbClr val="FFFFFF"/>
                </a:solidFill>
                <a:latin typeface="Segoe UI" pitchFamily="34" charset="0"/>
                <a:ea typeface="Segoe UI" pitchFamily="34" charset="-122"/>
                <a:cs typeface="Segoe UI" pitchFamily="34" charset="-120"/>
              </a:rPr>
              <a:t>▶</a:t>
            </a:r>
            <a:endParaRPr lang="en-US" sz="1000" dirty="0"/>
          </a:p>
        </p:txBody>
      </p:sp>
      <p:sp>
        <p:nvSpPr>
          <p:cNvPr id="32" name="Shape 28"/>
          <p:cNvSpPr/>
          <p:nvPr/>
        </p:nvSpPr>
        <p:spPr>
          <a:xfrm>
            <a:off x="5385816" y="1060704"/>
            <a:ext cx="1508760" cy="2331720"/>
          </a:xfrm>
          <a:prstGeom prst="rect">
            <a:avLst/>
          </a:prstGeom>
          <a:solidFill>
            <a:srgbClr val="FFFFFF"/>
          </a:solidFill>
          <a:ln w="19050">
            <a:solidFill>
              <a:srgbClr val="5A8A6A"/>
            </a:solidFill>
            <a:prstDash val="solid"/>
          </a:ln>
        </p:spPr>
      </p:sp>
      <p:sp>
        <p:nvSpPr>
          <p:cNvPr id="33" name="Shape 29"/>
          <p:cNvSpPr/>
          <p:nvPr/>
        </p:nvSpPr>
        <p:spPr>
          <a:xfrm>
            <a:off x="5385816" y="1060704"/>
            <a:ext cx="1508760" cy="420624"/>
          </a:xfrm>
          <a:prstGeom prst="rect">
            <a:avLst/>
          </a:prstGeom>
          <a:solidFill>
            <a:srgbClr val="5A8A6A"/>
          </a:solidFill>
          <a:ln w="12700">
            <a:solidFill>
              <a:srgbClr val="5A8A6A"/>
            </a:solidFill>
            <a:prstDash val="solid"/>
          </a:ln>
        </p:spPr>
      </p:sp>
      <p:sp>
        <p:nvSpPr>
          <p:cNvPr id="34" name="Text 30"/>
          <p:cNvSpPr/>
          <p:nvPr/>
        </p:nvSpPr>
        <p:spPr>
          <a:xfrm>
            <a:off x="5477256" y="1124712"/>
            <a:ext cx="329184" cy="292608"/>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04</a:t>
            </a:r>
            <a:endParaRPr lang="en-US" sz="1100" dirty="0"/>
          </a:p>
        </p:txBody>
      </p:sp>
      <p:sp>
        <p:nvSpPr>
          <p:cNvPr id="35" name="Text 31"/>
          <p:cNvSpPr/>
          <p:nvPr/>
        </p:nvSpPr>
        <p:spPr>
          <a:xfrm>
            <a:off x="5431536" y="1554480"/>
            <a:ext cx="1417320" cy="237744"/>
          </a:xfrm>
          <a:prstGeom prst="rect">
            <a:avLst/>
          </a:prstGeom>
          <a:noFill/>
          <a:ln/>
        </p:spPr>
        <p:txBody>
          <a:bodyPr wrap="square" lIns="0" tIns="0" rIns="0" bIns="0" rtlCol="0" anchor="ctr"/>
          <a:lstStyle/>
          <a:p>
            <a:pPr marL="0" indent="0" algn="ctr">
              <a:buNone/>
            </a:pPr>
            <a:r>
              <a:rPr lang="en-US" sz="700" b="1" kern="0" spc="50" dirty="0">
                <a:solidFill>
                  <a:srgbClr val="5A8A6A"/>
                </a:solidFill>
                <a:latin typeface="Segoe UI" pitchFamily="34" charset="0"/>
                <a:ea typeface="Segoe UI" pitchFamily="34" charset="-122"/>
                <a:cs typeface="Segoe UI" pitchFamily="34" charset="-120"/>
              </a:rPr>
              <a:t>PROFORMA</a:t>
            </a:r>
            <a:endParaRPr lang="en-US" sz="700" dirty="0"/>
          </a:p>
        </p:txBody>
      </p:sp>
      <p:sp>
        <p:nvSpPr>
          <p:cNvPr id="36" name="Text 32"/>
          <p:cNvSpPr/>
          <p:nvPr/>
        </p:nvSpPr>
        <p:spPr>
          <a:xfrm>
            <a:off x="5458968" y="1847088"/>
            <a:ext cx="1362456" cy="530352"/>
          </a:xfrm>
          <a:prstGeom prst="rect">
            <a:avLst/>
          </a:prstGeom>
          <a:noFill/>
          <a:ln/>
        </p:spPr>
        <p:txBody>
          <a:bodyPr wrap="square" lIns="0" tIns="0" rIns="0" bIns="0" rtlCol="0" anchor="ctr"/>
          <a:lstStyle/>
          <a:p>
            <a:pPr marL="0" indent="0">
              <a:buNone/>
            </a:pPr>
            <a:r>
              <a:rPr lang="en-US" sz="1150" b="1" dirty="0">
                <a:solidFill>
                  <a:srgbClr val="222B26"/>
                </a:solidFill>
                <a:latin typeface="Segoe UI" pitchFamily="34" charset="0"/>
                <a:ea typeface="Segoe UI" pitchFamily="34" charset="-122"/>
                <a:cs typeface="Segoe UI" pitchFamily="34" charset="-120"/>
              </a:rPr>
              <a:t>Financial</a:t>
            </a:r>
            <a:endParaRPr lang="en-US" sz="1150" dirty="0"/>
          </a:p>
          <a:p>
            <a:pPr marL="0" indent="0">
              <a:buNone/>
            </a:pPr>
            <a:r>
              <a:rPr lang="en-US" sz="1150" b="1" dirty="0">
                <a:solidFill>
                  <a:srgbClr val="222B26"/>
                </a:solidFill>
                <a:latin typeface="Segoe UI" pitchFamily="34" charset="0"/>
                <a:ea typeface="Segoe UI" pitchFamily="34" charset="-122"/>
                <a:cs typeface="Segoe UI" pitchFamily="34" charset="-120"/>
              </a:rPr>
              <a:t>Model</a:t>
            </a:r>
            <a:endParaRPr lang="en-US" sz="1150" dirty="0"/>
          </a:p>
        </p:txBody>
      </p:sp>
      <p:sp>
        <p:nvSpPr>
          <p:cNvPr id="37" name="Text 33"/>
          <p:cNvSpPr/>
          <p:nvPr/>
        </p:nvSpPr>
        <p:spPr>
          <a:xfrm>
            <a:off x="5458968" y="2450592"/>
            <a:ext cx="1362456" cy="713232"/>
          </a:xfrm>
          <a:prstGeom prst="rect">
            <a:avLst/>
          </a:prstGeom>
          <a:noFill/>
          <a:ln/>
        </p:spPr>
        <p:txBody>
          <a:bodyPr wrap="square" lIns="0" tIns="0" rIns="0" bIns="0" rtlCol="0" anchor="ctr"/>
          <a:lstStyle/>
          <a:p>
            <a:pPr marL="0" indent="0">
              <a:buNone/>
            </a:pPr>
            <a:r>
              <a:rPr lang="en-US" sz="900" dirty="0">
                <a:solidFill>
                  <a:srgbClr val="9F9C8F"/>
                </a:solidFill>
                <a:latin typeface="Segoe UI" pitchFamily="34" charset="0"/>
                <a:ea typeface="Segoe UI" pitchFamily="34" charset="-122"/>
                <a:cs typeface="Segoe UI" pitchFamily="34" charset="-120"/>
              </a:rPr>
              <a:t>Returns, absorption,</a:t>
            </a:r>
            <a:endParaRPr lang="en-US" sz="900" dirty="0"/>
          </a:p>
          <a:p>
            <a:pPr marL="0" indent="0">
              <a:buNone/>
            </a:pPr>
            <a:r>
              <a:rPr lang="en-US" sz="900" dirty="0">
                <a:solidFill>
                  <a:srgbClr val="9F9C8F"/>
                </a:solidFill>
                <a:latin typeface="Segoe UI" pitchFamily="34" charset="0"/>
                <a:ea typeface="Segoe UI" pitchFamily="34" charset="-122"/>
                <a:cs typeface="Segoe UI" pitchFamily="34" charset="-120"/>
              </a:rPr>
              <a:t>proforma</a:t>
            </a:r>
            <a:endParaRPr lang="en-US" sz="900" dirty="0"/>
          </a:p>
        </p:txBody>
      </p:sp>
      <p:sp>
        <p:nvSpPr>
          <p:cNvPr id="38" name="Shape 34"/>
          <p:cNvSpPr/>
          <p:nvPr/>
        </p:nvSpPr>
        <p:spPr>
          <a:xfrm>
            <a:off x="6931152" y="2107692"/>
            <a:ext cx="128016" cy="237744"/>
          </a:xfrm>
          <a:prstGeom prst="rect">
            <a:avLst/>
          </a:prstGeom>
          <a:solidFill>
            <a:srgbClr val="AE8F5D"/>
          </a:solidFill>
          <a:ln w="12700">
            <a:solidFill>
              <a:srgbClr val="AE8F5D"/>
            </a:solidFill>
            <a:prstDash val="solid"/>
          </a:ln>
        </p:spPr>
      </p:sp>
      <p:sp>
        <p:nvSpPr>
          <p:cNvPr id="39" name="Text 35"/>
          <p:cNvSpPr/>
          <p:nvPr/>
        </p:nvSpPr>
        <p:spPr>
          <a:xfrm>
            <a:off x="6931152" y="2089404"/>
            <a:ext cx="128016" cy="274320"/>
          </a:xfrm>
          <a:prstGeom prst="rect">
            <a:avLst/>
          </a:prstGeom>
          <a:noFill/>
          <a:ln/>
        </p:spPr>
        <p:txBody>
          <a:bodyPr wrap="square" lIns="0" tIns="0" rIns="0" bIns="0" rtlCol="0" anchor="ctr"/>
          <a:lstStyle/>
          <a:p>
            <a:pPr marL="0" indent="0" algn="ctr">
              <a:buNone/>
            </a:pPr>
            <a:r>
              <a:rPr lang="en-US" sz="1000" dirty="0">
                <a:solidFill>
                  <a:srgbClr val="FFFFFF"/>
                </a:solidFill>
                <a:latin typeface="Segoe UI" pitchFamily="34" charset="0"/>
                <a:ea typeface="Segoe UI" pitchFamily="34" charset="-122"/>
                <a:cs typeface="Segoe UI" pitchFamily="34" charset="-120"/>
              </a:rPr>
              <a:t>▶</a:t>
            </a:r>
            <a:endParaRPr lang="en-US" sz="1000" dirty="0"/>
          </a:p>
        </p:txBody>
      </p:sp>
      <p:sp>
        <p:nvSpPr>
          <p:cNvPr id="40" name="Shape 36"/>
          <p:cNvSpPr/>
          <p:nvPr/>
        </p:nvSpPr>
        <p:spPr>
          <a:xfrm>
            <a:off x="7095744" y="1060704"/>
            <a:ext cx="1508760" cy="2331720"/>
          </a:xfrm>
          <a:prstGeom prst="rect">
            <a:avLst/>
          </a:prstGeom>
          <a:solidFill>
            <a:srgbClr val="FFFFFF"/>
          </a:solidFill>
          <a:ln w="19050">
            <a:solidFill>
              <a:srgbClr val="9F2C32"/>
            </a:solidFill>
            <a:prstDash val="solid"/>
          </a:ln>
        </p:spPr>
      </p:sp>
      <p:sp>
        <p:nvSpPr>
          <p:cNvPr id="41" name="Shape 37"/>
          <p:cNvSpPr/>
          <p:nvPr/>
        </p:nvSpPr>
        <p:spPr>
          <a:xfrm>
            <a:off x="7095744" y="1060704"/>
            <a:ext cx="1508760" cy="420624"/>
          </a:xfrm>
          <a:prstGeom prst="rect">
            <a:avLst/>
          </a:prstGeom>
          <a:solidFill>
            <a:srgbClr val="9F2C32"/>
          </a:solidFill>
          <a:ln w="12700">
            <a:solidFill>
              <a:srgbClr val="9F2C32"/>
            </a:solidFill>
            <a:prstDash val="solid"/>
          </a:ln>
        </p:spPr>
      </p:sp>
      <p:sp>
        <p:nvSpPr>
          <p:cNvPr id="42" name="Text 38"/>
          <p:cNvSpPr/>
          <p:nvPr/>
        </p:nvSpPr>
        <p:spPr>
          <a:xfrm>
            <a:off x="7187184" y="1124712"/>
            <a:ext cx="329184" cy="292608"/>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05</a:t>
            </a:r>
            <a:endParaRPr lang="en-US" sz="1100" dirty="0"/>
          </a:p>
        </p:txBody>
      </p:sp>
      <p:sp>
        <p:nvSpPr>
          <p:cNvPr id="43" name="Text 39"/>
          <p:cNvSpPr/>
          <p:nvPr/>
        </p:nvSpPr>
        <p:spPr>
          <a:xfrm>
            <a:off x="7141464" y="1554480"/>
            <a:ext cx="1417320" cy="237744"/>
          </a:xfrm>
          <a:prstGeom prst="rect">
            <a:avLst/>
          </a:prstGeom>
          <a:noFill/>
          <a:ln/>
        </p:spPr>
        <p:txBody>
          <a:bodyPr wrap="square" lIns="0" tIns="0" rIns="0" bIns="0" rtlCol="0" anchor="ctr"/>
          <a:lstStyle/>
          <a:p>
            <a:pPr marL="0" indent="0" algn="ctr">
              <a:buNone/>
            </a:pPr>
            <a:r>
              <a:rPr lang="en-US" sz="700" b="1" kern="0" spc="50" dirty="0">
                <a:solidFill>
                  <a:srgbClr val="9F2C32"/>
                </a:solidFill>
                <a:latin typeface="Segoe UI" pitchFamily="34" charset="0"/>
                <a:ea typeface="Segoe UI" pitchFamily="34" charset="-122"/>
                <a:cs typeface="Segoe UI" pitchFamily="34" charset="-120"/>
              </a:rPr>
              <a:t>PRESIDENT'S LETTER</a:t>
            </a:r>
            <a:endParaRPr lang="en-US" sz="700" dirty="0"/>
          </a:p>
        </p:txBody>
      </p:sp>
      <p:sp>
        <p:nvSpPr>
          <p:cNvPr id="44" name="Text 40"/>
          <p:cNvSpPr/>
          <p:nvPr/>
        </p:nvSpPr>
        <p:spPr>
          <a:xfrm>
            <a:off x="7168896" y="1847088"/>
            <a:ext cx="1362456" cy="530352"/>
          </a:xfrm>
          <a:prstGeom prst="rect">
            <a:avLst/>
          </a:prstGeom>
          <a:noFill/>
          <a:ln/>
        </p:spPr>
        <p:txBody>
          <a:bodyPr wrap="square" lIns="0" tIns="0" rIns="0" bIns="0" rtlCol="0" anchor="ctr"/>
          <a:lstStyle/>
          <a:p>
            <a:pPr marL="0" indent="0">
              <a:buNone/>
            </a:pPr>
            <a:r>
              <a:rPr lang="en-US" sz="1150" b="1" dirty="0">
                <a:solidFill>
                  <a:srgbClr val="222B26"/>
                </a:solidFill>
                <a:latin typeface="Segoe UI" pitchFamily="34" charset="0"/>
                <a:ea typeface="Segoe UI" pitchFamily="34" charset="-122"/>
                <a:cs typeface="Segoe UI" pitchFamily="34" charset="-120"/>
              </a:rPr>
              <a:t>President's</a:t>
            </a:r>
            <a:endParaRPr lang="en-US" sz="1150" dirty="0"/>
          </a:p>
          <a:p>
            <a:pPr marL="0" indent="0">
              <a:buNone/>
            </a:pPr>
            <a:r>
              <a:rPr lang="en-US" sz="1150" b="1" dirty="0">
                <a:solidFill>
                  <a:srgbClr val="222B26"/>
                </a:solidFill>
                <a:latin typeface="Segoe UI" pitchFamily="34" charset="0"/>
                <a:ea typeface="Segoe UI" pitchFamily="34" charset="-122"/>
                <a:cs typeface="Segoe UI" pitchFamily="34" charset="-120"/>
              </a:rPr>
              <a:t>Letter  ✦</a:t>
            </a:r>
            <a:endParaRPr lang="en-US" sz="1150" dirty="0"/>
          </a:p>
        </p:txBody>
      </p:sp>
      <p:sp>
        <p:nvSpPr>
          <p:cNvPr id="45" name="Text 41"/>
          <p:cNvSpPr/>
          <p:nvPr/>
        </p:nvSpPr>
        <p:spPr>
          <a:xfrm>
            <a:off x="7168896" y="2450592"/>
            <a:ext cx="1362456" cy="713232"/>
          </a:xfrm>
          <a:prstGeom prst="rect">
            <a:avLst/>
          </a:prstGeom>
          <a:noFill/>
          <a:ln/>
        </p:spPr>
        <p:txBody>
          <a:bodyPr wrap="square" lIns="0" tIns="0" rIns="0" bIns="0" rtlCol="0" anchor="ctr"/>
          <a:lstStyle/>
          <a:p>
            <a:pPr marL="0" indent="0">
              <a:buNone/>
            </a:pPr>
            <a:r>
              <a:rPr lang="en-US" sz="900" dirty="0">
                <a:solidFill>
                  <a:srgbClr val="9F9C8F"/>
                </a:solidFill>
                <a:latin typeface="Segoe UI" pitchFamily="34" charset="0"/>
                <a:ea typeface="Segoe UI" pitchFamily="34" charset="-122"/>
                <a:cs typeface="Segoe UI" pitchFamily="34" charset="-120"/>
              </a:rPr>
              <a:t>AI-generated approval</a:t>
            </a:r>
            <a:endParaRPr lang="en-US" sz="900" dirty="0"/>
          </a:p>
          <a:p>
            <a:pPr marL="0" indent="0">
              <a:buNone/>
            </a:pPr>
            <a:r>
              <a:rPr lang="en-US" sz="900" dirty="0">
                <a:solidFill>
                  <a:srgbClr val="9F9C8F"/>
                </a:solidFill>
                <a:latin typeface="Segoe UI" pitchFamily="34" charset="0"/>
                <a:ea typeface="Segoe UI" pitchFamily="34" charset="-122"/>
                <a:cs typeface="Segoe UI" pitchFamily="34" charset="-120"/>
              </a:rPr>
              <a:t>letter — NEW</a:t>
            </a:r>
            <a:endParaRPr lang="en-US" sz="900" dirty="0"/>
          </a:p>
        </p:txBody>
      </p:sp>
      <p:sp>
        <p:nvSpPr>
          <p:cNvPr id="46" name="Shape 42"/>
          <p:cNvSpPr/>
          <p:nvPr/>
        </p:nvSpPr>
        <p:spPr>
          <a:xfrm>
            <a:off x="7095744" y="3465576"/>
            <a:ext cx="1508760" cy="256032"/>
          </a:xfrm>
          <a:prstGeom prst="rect">
            <a:avLst/>
          </a:prstGeom>
          <a:solidFill>
            <a:srgbClr val="9F2C32"/>
          </a:solidFill>
          <a:ln w="12700">
            <a:solidFill>
              <a:srgbClr val="9F2C32"/>
            </a:solidFill>
            <a:prstDash val="solid"/>
          </a:ln>
        </p:spPr>
      </p:sp>
      <p:sp>
        <p:nvSpPr>
          <p:cNvPr id="47" name="Text 43"/>
          <p:cNvSpPr/>
          <p:nvPr/>
        </p:nvSpPr>
        <p:spPr>
          <a:xfrm>
            <a:off x="7095744" y="3474720"/>
            <a:ext cx="1508760" cy="237744"/>
          </a:xfrm>
          <a:prstGeom prst="rect">
            <a:avLst/>
          </a:prstGeom>
          <a:noFill/>
          <a:ln/>
        </p:spPr>
        <p:txBody>
          <a:bodyPr wrap="square" lIns="0" tIns="0" rIns="0" bIns="0" rtlCol="0" anchor="ctr"/>
          <a:lstStyle/>
          <a:p>
            <a:pPr marL="0" indent="0" algn="ctr">
              <a:buNone/>
            </a:pPr>
            <a:r>
              <a:rPr lang="en-US" sz="750" b="1" dirty="0">
                <a:solidFill>
                  <a:srgbClr val="FFFFFF"/>
                </a:solidFill>
                <a:latin typeface="Segoe UI" pitchFamily="34" charset="0"/>
                <a:ea typeface="Segoe UI" pitchFamily="34" charset="-122"/>
                <a:cs typeface="Segoe UI" pitchFamily="34" charset="-120"/>
              </a:rPr>
              <a:t>What we're building</a:t>
            </a:r>
            <a:endParaRPr lang="en-US" sz="750" dirty="0"/>
          </a:p>
        </p:txBody>
      </p:sp>
      <p:sp>
        <p:nvSpPr>
          <p:cNvPr id="48" name="Shape 44"/>
          <p:cNvSpPr/>
          <p:nvPr/>
        </p:nvSpPr>
        <p:spPr>
          <a:xfrm>
            <a:off x="274320" y="4882896"/>
            <a:ext cx="8595360" cy="0"/>
          </a:xfrm>
          <a:prstGeom prst="line">
            <a:avLst/>
          </a:prstGeom>
          <a:noFill/>
          <a:ln w="19050">
            <a:solidFill>
              <a:srgbClr val="679F7B"/>
            </a:solidFill>
            <a:prstDash val="solid"/>
          </a:ln>
        </p:spPr>
      </p:sp>
      <p:sp>
        <p:nvSpPr>
          <p:cNvPr id="49" name="Text 45"/>
          <p:cNvSpPr/>
          <p:nvPr/>
        </p:nvSpPr>
        <p:spPr>
          <a:xfrm>
            <a:off x="274320" y="4928616"/>
            <a:ext cx="859536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pic>
        <p:nvPicPr>
          <p:cNvPr id="50" name="Picture 49">
            <a:extLst>
              <a:ext uri="{FF2B5EF4-FFF2-40B4-BE49-F238E27FC236}">
                <a16:creationId xmlns:a16="http://schemas.microsoft.com/office/drawing/2014/main" id="{2867EAD1-9F14-4F97-FF8B-907271E99E34}"/>
              </a:ext>
            </a:extLst>
          </p:cNvPr>
          <p:cNvPicPr>
            <a:picLocks noChangeAspect="1"/>
          </p:cNvPicPr>
          <p:nvPr/>
        </p:nvPicPr>
        <p:blipFill>
          <a:blip r:embed="rId5"/>
          <a:stretch>
            <a:fillRect/>
          </a:stretch>
        </p:blipFill>
        <p:spPr>
          <a:xfrm>
            <a:off x="274320" y="84807"/>
            <a:ext cx="1718253" cy="3288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74320" y="73152"/>
            <a:ext cx="1417320" cy="283464"/>
          </a:xfrm>
          <a:prstGeom prst="rect">
            <a:avLst/>
          </a:prstGeom>
        </p:spPr>
      </p:pic>
      <p:sp>
        <p:nvSpPr>
          <p:cNvPr id="3" name="Text 0"/>
          <p:cNvSpPr/>
          <p:nvPr/>
        </p:nvSpPr>
        <p:spPr>
          <a:xfrm>
            <a:off x="6126480" y="109728"/>
            <a:ext cx="1371600" cy="182880"/>
          </a:xfrm>
          <a:prstGeom prst="rect">
            <a:avLst/>
          </a:prstGeom>
          <a:noFill/>
          <a:ln/>
        </p:spPr>
        <p:txBody>
          <a:bodyPr wrap="square" lIns="0" tIns="0" rIns="0" bIns="0" rtlCol="0" anchor="ctr"/>
          <a:lstStyle/>
          <a:p>
            <a:pPr marL="0" indent="0" algn="r">
              <a:buNone/>
            </a:pPr>
            <a:r>
              <a:rPr lang="en-US" sz="750" dirty="0">
                <a:solidFill>
                  <a:srgbClr val="9F9C8F"/>
                </a:solidFill>
                <a:latin typeface="Segoe UI" pitchFamily="34" charset="0"/>
                <a:ea typeface="Segoe UI" pitchFamily="34" charset="-122"/>
                <a:cs typeface="Segoe UI" pitchFamily="34" charset="-120"/>
              </a:rPr>
              <a:t>In partnership with</a:t>
            </a:r>
            <a:endParaRPr lang="en-US" sz="750" dirty="0"/>
          </a:p>
        </p:txBody>
      </p:sp>
      <p:pic>
        <p:nvPicPr>
          <p:cNvPr id="4" name="Image 1" descr="preencoded.png"/>
          <p:cNvPicPr>
            <a:picLocks noChangeAspect="1"/>
          </p:cNvPicPr>
          <p:nvPr/>
        </p:nvPicPr>
        <p:blipFill>
          <a:blip r:embed="rId4"/>
          <a:srcRect/>
          <a:stretch/>
        </p:blipFill>
        <p:spPr>
          <a:xfrm>
            <a:off x="7571232" y="36576"/>
            <a:ext cx="1298448" cy="356616"/>
          </a:xfrm>
          <a:prstGeom prst="rect">
            <a:avLst/>
          </a:prstGeom>
        </p:spPr>
      </p:pic>
      <p:sp>
        <p:nvSpPr>
          <p:cNvPr id="5" name="Shape 1"/>
          <p:cNvSpPr/>
          <p:nvPr/>
        </p:nvSpPr>
        <p:spPr>
          <a:xfrm>
            <a:off x="0" y="438912"/>
            <a:ext cx="9144000" cy="32004"/>
          </a:xfrm>
          <a:prstGeom prst="rect">
            <a:avLst/>
          </a:prstGeom>
          <a:solidFill>
            <a:srgbClr val="679F7B"/>
          </a:solidFill>
          <a:ln w="12700">
            <a:solidFill>
              <a:srgbClr val="679F7B"/>
            </a:solidFill>
            <a:prstDash val="solid"/>
          </a:ln>
        </p:spPr>
      </p:sp>
      <p:sp>
        <p:nvSpPr>
          <p:cNvPr id="6" name="Shape 2"/>
          <p:cNvSpPr/>
          <p:nvPr/>
        </p:nvSpPr>
        <p:spPr>
          <a:xfrm>
            <a:off x="274320" y="548640"/>
            <a:ext cx="8595360" cy="384048"/>
          </a:xfrm>
          <a:prstGeom prst="rect">
            <a:avLst/>
          </a:prstGeom>
          <a:solidFill>
            <a:srgbClr val="679F7B"/>
          </a:solidFill>
          <a:ln w="12700">
            <a:solidFill>
              <a:srgbClr val="679F7B"/>
            </a:solidFill>
            <a:prstDash val="solid"/>
          </a:ln>
        </p:spPr>
      </p:sp>
      <p:sp>
        <p:nvSpPr>
          <p:cNvPr id="7" name="Text 3"/>
          <p:cNvSpPr/>
          <p:nvPr/>
        </p:nvSpPr>
        <p:spPr>
          <a:xfrm>
            <a:off x="411480" y="576072"/>
            <a:ext cx="8321040" cy="329184"/>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  From Standalone Prototype to Native Product</a:t>
            </a:r>
            <a:endParaRPr lang="en-US" sz="1300" dirty="0"/>
          </a:p>
        </p:txBody>
      </p:sp>
      <p:sp>
        <p:nvSpPr>
          <p:cNvPr id="8" name="Shape 4"/>
          <p:cNvSpPr/>
          <p:nvPr/>
        </p:nvSpPr>
        <p:spPr>
          <a:xfrm>
            <a:off x="274320" y="1042416"/>
            <a:ext cx="4069080" cy="347472"/>
          </a:xfrm>
          <a:prstGeom prst="rect">
            <a:avLst/>
          </a:prstGeom>
          <a:solidFill>
            <a:srgbClr val="9F9C8F"/>
          </a:solidFill>
          <a:ln w="12700">
            <a:solidFill>
              <a:srgbClr val="9F9C8F"/>
            </a:solidFill>
            <a:prstDash val="solid"/>
          </a:ln>
        </p:spPr>
      </p:sp>
      <p:sp>
        <p:nvSpPr>
          <p:cNvPr id="9" name="Text 5"/>
          <p:cNvSpPr/>
          <p:nvPr/>
        </p:nvSpPr>
        <p:spPr>
          <a:xfrm>
            <a:off x="347472" y="1069848"/>
            <a:ext cx="3913632" cy="274320"/>
          </a:xfrm>
          <a:prstGeom prst="rect">
            <a:avLst/>
          </a:prstGeom>
          <a:noFill/>
          <a:ln/>
        </p:spPr>
        <p:txBody>
          <a:bodyPr wrap="square" lIns="0" tIns="0" rIns="0" bIns="0" rtlCol="0" anchor="ctr"/>
          <a:lstStyle/>
          <a:p>
            <a:pPr marL="0" indent="0">
              <a:buNone/>
            </a:pPr>
            <a:r>
              <a:rPr lang="en-US" sz="950" b="1" kern="0" spc="100" dirty="0">
                <a:solidFill>
                  <a:srgbClr val="FFFFFF"/>
                </a:solidFill>
                <a:latin typeface="Segoe UI" pitchFamily="34" charset="0"/>
                <a:ea typeface="Segoe UI" pitchFamily="34" charset="-122"/>
                <a:cs typeface="Segoe UI" pitchFamily="34" charset="-120"/>
              </a:rPr>
              <a:t>PROTOTYPE  ·  TODAY</a:t>
            </a:r>
            <a:endParaRPr lang="en-US" sz="950" dirty="0"/>
          </a:p>
        </p:txBody>
      </p:sp>
      <p:sp>
        <p:nvSpPr>
          <p:cNvPr id="10" name="Shape 6"/>
          <p:cNvSpPr/>
          <p:nvPr/>
        </p:nvSpPr>
        <p:spPr>
          <a:xfrm>
            <a:off x="274320" y="1389888"/>
            <a:ext cx="4069080" cy="3401568"/>
          </a:xfrm>
          <a:prstGeom prst="rect">
            <a:avLst/>
          </a:prstGeom>
          <a:solidFill>
            <a:srgbClr val="F2F0EE"/>
          </a:solidFill>
          <a:ln w="12700">
            <a:solidFill>
              <a:srgbClr val="F2F0EE"/>
            </a:solidFill>
            <a:prstDash val="solid"/>
          </a:ln>
        </p:spPr>
      </p:sp>
      <p:sp>
        <p:nvSpPr>
          <p:cNvPr id="11" name="Shape 7"/>
          <p:cNvSpPr/>
          <p:nvPr/>
        </p:nvSpPr>
        <p:spPr>
          <a:xfrm>
            <a:off x="347472" y="1463040"/>
            <a:ext cx="749808" cy="237744"/>
          </a:xfrm>
          <a:prstGeom prst="rect">
            <a:avLst/>
          </a:prstGeom>
          <a:solidFill>
            <a:srgbClr val="9F9C8F"/>
          </a:solidFill>
          <a:ln w="12700">
            <a:solidFill>
              <a:srgbClr val="9F9C8F"/>
            </a:solidFill>
            <a:prstDash val="solid"/>
          </a:ln>
        </p:spPr>
      </p:sp>
      <p:sp>
        <p:nvSpPr>
          <p:cNvPr id="12" name="Text 8"/>
          <p:cNvSpPr/>
          <p:nvPr/>
        </p:nvSpPr>
        <p:spPr>
          <a:xfrm>
            <a:off x="347472" y="1481328"/>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Files</a:t>
            </a:r>
            <a:endParaRPr lang="en-US" sz="800" dirty="0"/>
          </a:p>
        </p:txBody>
      </p:sp>
      <p:sp>
        <p:nvSpPr>
          <p:cNvPr id="13" name="Text 9"/>
          <p:cNvSpPr/>
          <p:nvPr/>
        </p:nvSpPr>
        <p:spPr>
          <a:xfrm>
            <a:off x="1170432" y="1463040"/>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User manually uploads Excel proforma + prior Word letter examples</a:t>
            </a:r>
            <a:endParaRPr lang="en-US" sz="950" dirty="0"/>
          </a:p>
        </p:txBody>
      </p:sp>
      <p:sp>
        <p:nvSpPr>
          <p:cNvPr id="14" name="Shape 10"/>
          <p:cNvSpPr/>
          <p:nvPr/>
        </p:nvSpPr>
        <p:spPr>
          <a:xfrm>
            <a:off x="347472" y="1975104"/>
            <a:ext cx="749808" cy="237744"/>
          </a:xfrm>
          <a:prstGeom prst="rect">
            <a:avLst/>
          </a:prstGeom>
          <a:solidFill>
            <a:srgbClr val="9F9C8F"/>
          </a:solidFill>
          <a:ln w="12700">
            <a:solidFill>
              <a:srgbClr val="9F9C8F"/>
            </a:solidFill>
            <a:prstDash val="solid"/>
          </a:ln>
        </p:spPr>
      </p:sp>
      <p:sp>
        <p:nvSpPr>
          <p:cNvPr id="15" name="Text 11"/>
          <p:cNvSpPr/>
          <p:nvPr/>
        </p:nvSpPr>
        <p:spPr>
          <a:xfrm>
            <a:off x="347472" y="199339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AI Model</a:t>
            </a:r>
            <a:endParaRPr lang="en-US" sz="800" dirty="0"/>
          </a:p>
        </p:txBody>
      </p:sp>
      <p:sp>
        <p:nvSpPr>
          <p:cNvPr id="16" name="Text 12"/>
          <p:cNvSpPr/>
          <p:nvPr/>
        </p:nvSpPr>
        <p:spPr>
          <a:xfrm>
            <a:off x="1170432" y="1975104"/>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GPT-4.1 mini</a:t>
            </a:r>
            <a:endParaRPr lang="en-US" sz="950" dirty="0"/>
          </a:p>
        </p:txBody>
      </p:sp>
      <p:sp>
        <p:nvSpPr>
          <p:cNvPr id="17" name="Shape 13"/>
          <p:cNvSpPr/>
          <p:nvPr/>
        </p:nvSpPr>
        <p:spPr>
          <a:xfrm>
            <a:off x="347472" y="2487168"/>
            <a:ext cx="749808" cy="237744"/>
          </a:xfrm>
          <a:prstGeom prst="rect">
            <a:avLst/>
          </a:prstGeom>
          <a:solidFill>
            <a:srgbClr val="9F9C8F"/>
          </a:solidFill>
          <a:ln w="12700">
            <a:solidFill>
              <a:srgbClr val="9F9C8F"/>
            </a:solidFill>
            <a:prstDash val="solid"/>
          </a:ln>
        </p:spPr>
      </p:sp>
      <p:sp>
        <p:nvSpPr>
          <p:cNvPr id="18" name="Text 14"/>
          <p:cNvSpPr/>
          <p:nvPr/>
        </p:nvSpPr>
        <p:spPr>
          <a:xfrm>
            <a:off x="347472" y="2505456"/>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Location</a:t>
            </a:r>
            <a:endParaRPr lang="en-US" sz="800" dirty="0"/>
          </a:p>
        </p:txBody>
      </p:sp>
      <p:sp>
        <p:nvSpPr>
          <p:cNvPr id="19" name="Text 15"/>
          <p:cNvSpPr/>
          <p:nvPr/>
        </p:nvSpPr>
        <p:spPr>
          <a:xfrm>
            <a:off x="1170432" y="2487168"/>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Standalone app — lives outside Scout entirely</a:t>
            </a:r>
            <a:endParaRPr lang="en-US" sz="950" dirty="0"/>
          </a:p>
        </p:txBody>
      </p:sp>
      <p:sp>
        <p:nvSpPr>
          <p:cNvPr id="20" name="Shape 16"/>
          <p:cNvSpPr/>
          <p:nvPr/>
        </p:nvSpPr>
        <p:spPr>
          <a:xfrm>
            <a:off x="347472" y="2999232"/>
            <a:ext cx="749808" cy="237744"/>
          </a:xfrm>
          <a:prstGeom prst="rect">
            <a:avLst/>
          </a:prstGeom>
          <a:solidFill>
            <a:srgbClr val="9F9C8F"/>
          </a:solidFill>
          <a:ln w="12700">
            <a:solidFill>
              <a:srgbClr val="9F9C8F"/>
            </a:solidFill>
            <a:prstDash val="solid"/>
          </a:ln>
        </p:spPr>
      </p:sp>
      <p:sp>
        <p:nvSpPr>
          <p:cNvPr id="21" name="Text 17"/>
          <p:cNvSpPr/>
          <p:nvPr/>
        </p:nvSpPr>
        <p:spPr>
          <a:xfrm>
            <a:off x="347472" y="3017520"/>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Data</a:t>
            </a:r>
            <a:endParaRPr lang="en-US" sz="800" dirty="0"/>
          </a:p>
        </p:txBody>
      </p:sp>
      <p:sp>
        <p:nvSpPr>
          <p:cNvPr id="22" name="Text 18"/>
          <p:cNvSpPr/>
          <p:nvPr/>
        </p:nvSpPr>
        <p:spPr>
          <a:xfrm>
            <a:off x="1170432" y="2999232"/>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Static — only what's in the uploaded files at that moment</a:t>
            </a:r>
            <a:endParaRPr lang="en-US" sz="950" dirty="0"/>
          </a:p>
        </p:txBody>
      </p:sp>
      <p:sp>
        <p:nvSpPr>
          <p:cNvPr id="23" name="Shape 19"/>
          <p:cNvSpPr/>
          <p:nvPr/>
        </p:nvSpPr>
        <p:spPr>
          <a:xfrm>
            <a:off x="347472" y="3511296"/>
            <a:ext cx="749808" cy="237744"/>
          </a:xfrm>
          <a:prstGeom prst="rect">
            <a:avLst/>
          </a:prstGeom>
          <a:solidFill>
            <a:srgbClr val="9F9C8F"/>
          </a:solidFill>
          <a:ln w="12700">
            <a:solidFill>
              <a:srgbClr val="9F9C8F"/>
            </a:solidFill>
            <a:prstDash val="solid"/>
          </a:ln>
        </p:spPr>
      </p:sp>
      <p:sp>
        <p:nvSpPr>
          <p:cNvPr id="24" name="Text 20"/>
          <p:cNvSpPr/>
          <p:nvPr/>
        </p:nvSpPr>
        <p:spPr>
          <a:xfrm>
            <a:off x="347472" y="3529584"/>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Output</a:t>
            </a:r>
            <a:endParaRPr lang="en-US" sz="800" dirty="0"/>
          </a:p>
        </p:txBody>
      </p:sp>
      <p:sp>
        <p:nvSpPr>
          <p:cNvPr id="25" name="Text 21"/>
          <p:cNvSpPr/>
          <p:nvPr/>
        </p:nvSpPr>
        <p:spPr>
          <a:xfrm>
            <a:off x="1170432" y="3511296"/>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Draft text returned; no save, no workflow, no version tracking</a:t>
            </a:r>
            <a:endParaRPr lang="en-US" sz="950" dirty="0"/>
          </a:p>
        </p:txBody>
      </p:sp>
      <p:sp>
        <p:nvSpPr>
          <p:cNvPr id="26" name="Shape 22"/>
          <p:cNvSpPr/>
          <p:nvPr/>
        </p:nvSpPr>
        <p:spPr>
          <a:xfrm>
            <a:off x="347472" y="4023360"/>
            <a:ext cx="749808" cy="237744"/>
          </a:xfrm>
          <a:prstGeom prst="rect">
            <a:avLst/>
          </a:prstGeom>
          <a:solidFill>
            <a:srgbClr val="9F9C8F"/>
          </a:solidFill>
          <a:ln w="12700">
            <a:solidFill>
              <a:srgbClr val="9F9C8F"/>
            </a:solidFill>
            <a:prstDash val="solid"/>
          </a:ln>
        </p:spPr>
      </p:sp>
      <p:sp>
        <p:nvSpPr>
          <p:cNvPr id="27" name="Text 23"/>
          <p:cNvSpPr/>
          <p:nvPr/>
        </p:nvSpPr>
        <p:spPr>
          <a:xfrm>
            <a:off x="347472" y="4041648"/>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Approval</a:t>
            </a:r>
            <a:endParaRPr lang="en-US" sz="800" dirty="0"/>
          </a:p>
        </p:txBody>
      </p:sp>
      <p:sp>
        <p:nvSpPr>
          <p:cNvPr id="28" name="Text 24"/>
          <p:cNvSpPr/>
          <p:nvPr/>
        </p:nvSpPr>
        <p:spPr>
          <a:xfrm>
            <a:off x="1170432" y="4023360"/>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No approval workflow — user copies output manually</a:t>
            </a:r>
            <a:endParaRPr lang="en-US" sz="950" dirty="0"/>
          </a:p>
        </p:txBody>
      </p:sp>
      <p:sp>
        <p:nvSpPr>
          <p:cNvPr id="29" name="Shape 25"/>
          <p:cNvSpPr/>
          <p:nvPr/>
        </p:nvSpPr>
        <p:spPr>
          <a:xfrm>
            <a:off x="4416552" y="2688336"/>
            <a:ext cx="310896" cy="292608"/>
          </a:xfrm>
          <a:prstGeom prst="rect">
            <a:avLst/>
          </a:prstGeom>
          <a:solidFill>
            <a:srgbClr val="AE8F5D"/>
          </a:solidFill>
          <a:ln w="12700">
            <a:solidFill>
              <a:srgbClr val="AE8F5D"/>
            </a:solidFill>
            <a:prstDash val="solid"/>
          </a:ln>
        </p:spPr>
      </p:sp>
      <p:sp>
        <p:nvSpPr>
          <p:cNvPr id="30" name="Text 26"/>
          <p:cNvSpPr/>
          <p:nvPr/>
        </p:nvSpPr>
        <p:spPr>
          <a:xfrm>
            <a:off x="4416552" y="2670048"/>
            <a:ext cx="310896"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a:t>
            </a:r>
            <a:endParaRPr lang="en-US" sz="1400" dirty="0"/>
          </a:p>
        </p:txBody>
      </p:sp>
      <p:sp>
        <p:nvSpPr>
          <p:cNvPr id="31" name="Shape 27"/>
          <p:cNvSpPr/>
          <p:nvPr/>
        </p:nvSpPr>
        <p:spPr>
          <a:xfrm>
            <a:off x="4800600" y="1042416"/>
            <a:ext cx="4069080" cy="347472"/>
          </a:xfrm>
          <a:prstGeom prst="rect">
            <a:avLst/>
          </a:prstGeom>
          <a:solidFill>
            <a:srgbClr val="9F2C32"/>
          </a:solidFill>
          <a:ln w="12700">
            <a:solidFill>
              <a:srgbClr val="9F2C32"/>
            </a:solidFill>
            <a:prstDash val="solid"/>
          </a:ln>
        </p:spPr>
      </p:sp>
      <p:sp>
        <p:nvSpPr>
          <p:cNvPr id="32" name="Text 28"/>
          <p:cNvSpPr/>
          <p:nvPr/>
        </p:nvSpPr>
        <p:spPr>
          <a:xfrm>
            <a:off x="4873752" y="1069848"/>
            <a:ext cx="3913632" cy="274320"/>
          </a:xfrm>
          <a:prstGeom prst="rect">
            <a:avLst/>
          </a:prstGeom>
          <a:noFill/>
          <a:ln/>
        </p:spPr>
        <p:txBody>
          <a:bodyPr wrap="square" lIns="0" tIns="0" rIns="0" bIns="0" rtlCol="0" anchor="ctr"/>
          <a:lstStyle/>
          <a:p>
            <a:pPr marL="0" indent="0">
              <a:buNone/>
            </a:pPr>
            <a:r>
              <a:rPr lang="en-US" sz="950" b="1" kern="0" spc="100" dirty="0">
                <a:solidFill>
                  <a:srgbClr val="FFFFFF"/>
                </a:solidFill>
                <a:latin typeface="Segoe UI" pitchFamily="34" charset="0"/>
                <a:ea typeface="Segoe UI" pitchFamily="34" charset="-122"/>
                <a:cs typeface="Segoe UI" pitchFamily="34" charset="-120"/>
              </a:rPr>
              <a:t>INTEGRATED PRODUCT  ·  TARGET</a:t>
            </a:r>
            <a:endParaRPr lang="en-US" sz="950" dirty="0"/>
          </a:p>
        </p:txBody>
      </p:sp>
      <p:sp>
        <p:nvSpPr>
          <p:cNvPr id="33" name="Shape 29"/>
          <p:cNvSpPr/>
          <p:nvPr/>
        </p:nvSpPr>
        <p:spPr>
          <a:xfrm>
            <a:off x="4800600" y="1389888"/>
            <a:ext cx="4069080" cy="3401568"/>
          </a:xfrm>
          <a:prstGeom prst="rect">
            <a:avLst/>
          </a:prstGeom>
          <a:solidFill>
            <a:srgbClr val="FFFFFF"/>
          </a:solidFill>
          <a:ln w="19050">
            <a:solidFill>
              <a:srgbClr val="679F7B"/>
            </a:solidFill>
            <a:prstDash val="solid"/>
          </a:ln>
        </p:spPr>
      </p:sp>
      <p:sp>
        <p:nvSpPr>
          <p:cNvPr id="34" name="Shape 30"/>
          <p:cNvSpPr/>
          <p:nvPr/>
        </p:nvSpPr>
        <p:spPr>
          <a:xfrm>
            <a:off x="4873752" y="1463040"/>
            <a:ext cx="749808" cy="237744"/>
          </a:xfrm>
          <a:prstGeom prst="rect">
            <a:avLst/>
          </a:prstGeom>
          <a:solidFill>
            <a:srgbClr val="679F7B"/>
          </a:solidFill>
          <a:ln w="12700">
            <a:solidFill>
              <a:srgbClr val="679F7B"/>
            </a:solidFill>
            <a:prstDash val="solid"/>
          </a:ln>
        </p:spPr>
      </p:sp>
      <p:sp>
        <p:nvSpPr>
          <p:cNvPr id="35" name="Text 31"/>
          <p:cNvSpPr/>
          <p:nvPr/>
        </p:nvSpPr>
        <p:spPr>
          <a:xfrm>
            <a:off x="4873752" y="1481328"/>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Data</a:t>
            </a:r>
            <a:endParaRPr lang="en-US" sz="800" dirty="0"/>
          </a:p>
        </p:txBody>
      </p:sp>
      <p:sp>
        <p:nvSpPr>
          <p:cNvPr id="36" name="Text 32"/>
          <p:cNvSpPr/>
          <p:nvPr/>
        </p:nvSpPr>
        <p:spPr>
          <a:xfrm>
            <a:off x="5696712" y="1463040"/>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AI reads directly from Scout deal data — no uploads needed</a:t>
            </a:r>
            <a:endParaRPr lang="en-US" sz="950" dirty="0"/>
          </a:p>
        </p:txBody>
      </p:sp>
      <p:sp>
        <p:nvSpPr>
          <p:cNvPr id="37" name="Shape 33"/>
          <p:cNvSpPr/>
          <p:nvPr/>
        </p:nvSpPr>
        <p:spPr>
          <a:xfrm>
            <a:off x="4873752" y="1975104"/>
            <a:ext cx="749808" cy="237744"/>
          </a:xfrm>
          <a:prstGeom prst="rect">
            <a:avLst/>
          </a:prstGeom>
          <a:solidFill>
            <a:srgbClr val="679F7B"/>
          </a:solidFill>
          <a:ln w="12700">
            <a:solidFill>
              <a:srgbClr val="679F7B"/>
            </a:solidFill>
            <a:prstDash val="solid"/>
          </a:ln>
        </p:spPr>
      </p:sp>
      <p:sp>
        <p:nvSpPr>
          <p:cNvPr id="38" name="Text 34"/>
          <p:cNvSpPr/>
          <p:nvPr/>
        </p:nvSpPr>
        <p:spPr>
          <a:xfrm>
            <a:off x="4873752" y="199339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AI Model</a:t>
            </a:r>
            <a:endParaRPr lang="en-US" sz="800" dirty="0"/>
          </a:p>
        </p:txBody>
      </p:sp>
      <p:sp>
        <p:nvSpPr>
          <p:cNvPr id="39" name="Text 35"/>
          <p:cNvSpPr/>
          <p:nvPr/>
        </p:nvSpPr>
        <p:spPr>
          <a:xfrm>
            <a:off x="5696712" y="1975104"/>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Claude Sonnet 4.6 — vision, large context, superior synthesis</a:t>
            </a:r>
            <a:endParaRPr lang="en-US" sz="950" dirty="0"/>
          </a:p>
        </p:txBody>
      </p:sp>
      <p:sp>
        <p:nvSpPr>
          <p:cNvPr id="40" name="Shape 36"/>
          <p:cNvSpPr/>
          <p:nvPr/>
        </p:nvSpPr>
        <p:spPr>
          <a:xfrm>
            <a:off x="4873752" y="2487168"/>
            <a:ext cx="749808" cy="237744"/>
          </a:xfrm>
          <a:prstGeom prst="rect">
            <a:avLst/>
          </a:prstGeom>
          <a:solidFill>
            <a:srgbClr val="679F7B"/>
          </a:solidFill>
          <a:ln w="12700">
            <a:solidFill>
              <a:srgbClr val="679F7B"/>
            </a:solidFill>
            <a:prstDash val="solid"/>
          </a:ln>
        </p:spPr>
      </p:sp>
      <p:sp>
        <p:nvSpPr>
          <p:cNvPr id="41" name="Text 37"/>
          <p:cNvSpPr/>
          <p:nvPr/>
        </p:nvSpPr>
        <p:spPr>
          <a:xfrm>
            <a:off x="4873752" y="2505456"/>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Location</a:t>
            </a:r>
            <a:endParaRPr lang="en-US" sz="800" dirty="0"/>
          </a:p>
        </p:txBody>
      </p:sp>
      <p:sp>
        <p:nvSpPr>
          <p:cNvPr id="42" name="Text 38"/>
          <p:cNvSpPr/>
          <p:nvPr/>
        </p:nvSpPr>
        <p:spPr>
          <a:xfrm>
            <a:off x="5696712" y="2487168"/>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Native tab in LAR — alongside Input, TOP, Proforma</a:t>
            </a:r>
            <a:endParaRPr lang="en-US" sz="950" dirty="0"/>
          </a:p>
        </p:txBody>
      </p:sp>
      <p:sp>
        <p:nvSpPr>
          <p:cNvPr id="43" name="Shape 39"/>
          <p:cNvSpPr/>
          <p:nvPr/>
        </p:nvSpPr>
        <p:spPr>
          <a:xfrm>
            <a:off x="4873752" y="2999232"/>
            <a:ext cx="749808" cy="237744"/>
          </a:xfrm>
          <a:prstGeom prst="rect">
            <a:avLst/>
          </a:prstGeom>
          <a:solidFill>
            <a:srgbClr val="679F7B"/>
          </a:solidFill>
          <a:ln w="12700">
            <a:solidFill>
              <a:srgbClr val="679F7B"/>
            </a:solidFill>
            <a:prstDash val="solid"/>
          </a:ln>
        </p:spPr>
      </p:sp>
      <p:sp>
        <p:nvSpPr>
          <p:cNvPr id="44" name="Text 40"/>
          <p:cNvSpPr/>
          <p:nvPr/>
        </p:nvSpPr>
        <p:spPr>
          <a:xfrm>
            <a:off x="4873752" y="3017520"/>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Data</a:t>
            </a:r>
            <a:endParaRPr lang="en-US" sz="800" dirty="0"/>
          </a:p>
        </p:txBody>
      </p:sp>
      <p:sp>
        <p:nvSpPr>
          <p:cNvPr id="45" name="Text 41"/>
          <p:cNvSpPr/>
          <p:nvPr/>
        </p:nvSpPr>
        <p:spPr>
          <a:xfrm>
            <a:off x="5696712" y="2999232"/>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Live — always reflects current Scout deal data + supplemental inputs</a:t>
            </a:r>
            <a:endParaRPr lang="en-US" sz="950" dirty="0"/>
          </a:p>
        </p:txBody>
      </p:sp>
      <p:sp>
        <p:nvSpPr>
          <p:cNvPr id="46" name="Shape 42"/>
          <p:cNvSpPr/>
          <p:nvPr/>
        </p:nvSpPr>
        <p:spPr>
          <a:xfrm>
            <a:off x="4873752" y="3511296"/>
            <a:ext cx="749808" cy="237744"/>
          </a:xfrm>
          <a:prstGeom prst="rect">
            <a:avLst/>
          </a:prstGeom>
          <a:solidFill>
            <a:srgbClr val="679F7B"/>
          </a:solidFill>
          <a:ln w="12700">
            <a:solidFill>
              <a:srgbClr val="679F7B"/>
            </a:solidFill>
            <a:prstDash val="solid"/>
          </a:ln>
        </p:spPr>
      </p:sp>
      <p:sp>
        <p:nvSpPr>
          <p:cNvPr id="47" name="Text 43"/>
          <p:cNvSpPr/>
          <p:nvPr/>
        </p:nvSpPr>
        <p:spPr>
          <a:xfrm>
            <a:off x="4873752" y="3529584"/>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Output</a:t>
            </a:r>
            <a:endParaRPr lang="en-US" sz="800" dirty="0"/>
          </a:p>
        </p:txBody>
      </p:sp>
      <p:sp>
        <p:nvSpPr>
          <p:cNvPr id="48" name="Text 44"/>
          <p:cNvSpPr/>
          <p:nvPr/>
        </p:nvSpPr>
        <p:spPr>
          <a:xfrm>
            <a:off x="5696712" y="3511296"/>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Draft opens in a full rich-text editor, inline AI assistant for refinement</a:t>
            </a:r>
            <a:endParaRPr lang="en-US" sz="950" dirty="0"/>
          </a:p>
        </p:txBody>
      </p:sp>
      <p:sp>
        <p:nvSpPr>
          <p:cNvPr id="49" name="Shape 45"/>
          <p:cNvSpPr/>
          <p:nvPr/>
        </p:nvSpPr>
        <p:spPr>
          <a:xfrm>
            <a:off x="4873752" y="4023360"/>
            <a:ext cx="749808" cy="237744"/>
          </a:xfrm>
          <a:prstGeom prst="rect">
            <a:avLst/>
          </a:prstGeom>
          <a:solidFill>
            <a:srgbClr val="679F7B"/>
          </a:solidFill>
          <a:ln w="12700">
            <a:solidFill>
              <a:srgbClr val="679F7B"/>
            </a:solidFill>
            <a:prstDash val="solid"/>
          </a:ln>
        </p:spPr>
      </p:sp>
      <p:sp>
        <p:nvSpPr>
          <p:cNvPr id="50" name="Text 46"/>
          <p:cNvSpPr/>
          <p:nvPr/>
        </p:nvSpPr>
        <p:spPr>
          <a:xfrm>
            <a:off x="4873752" y="4041648"/>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Approval</a:t>
            </a:r>
            <a:endParaRPr lang="en-US" sz="800" dirty="0"/>
          </a:p>
        </p:txBody>
      </p:sp>
      <p:sp>
        <p:nvSpPr>
          <p:cNvPr id="51" name="Text 47"/>
          <p:cNvSpPr/>
          <p:nvPr/>
        </p:nvSpPr>
        <p:spPr>
          <a:xfrm>
            <a:off x="5696712" y="4023360"/>
            <a:ext cx="3090672" cy="384048"/>
          </a:xfrm>
          <a:prstGeom prst="rect">
            <a:avLst/>
          </a:prstGeom>
          <a:noFill/>
          <a:ln/>
        </p:spPr>
        <p:txBody>
          <a:bodyPr wrap="square" lIns="0" tIns="0" rIns="0" bIns="0" rtlCol="0" anchor="ctr"/>
          <a:lstStyle/>
          <a:p>
            <a:pPr marL="0" indent="0">
              <a:buNone/>
            </a:pPr>
            <a:r>
              <a:rPr lang="en-US" sz="950" dirty="0">
                <a:solidFill>
                  <a:srgbClr val="222B26"/>
                </a:solidFill>
                <a:latin typeface="Segoe UI" pitchFamily="34" charset="0"/>
                <a:ea typeface="Segoe UI" pitchFamily="34" charset="-122"/>
                <a:cs typeface="Segoe UI" pitchFamily="34" charset="-120"/>
              </a:rPr>
              <a:t>Built-in workflow: Draft → In Review → Approved, with full audit trail</a:t>
            </a:r>
            <a:endParaRPr lang="en-US" sz="950" dirty="0"/>
          </a:p>
        </p:txBody>
      </p:sp>
      <p:sp>
        <p:nvSpPr>
          <p:cNvPr id="52" name="Shape 48"/>
          <p:cNvSpPr/>
          <p:nvPr/>
        </p:nvSpPr>
        <p:spPr>
          <a:xfrm>
            <a:off x="274320" y="4882896"/>
            <a:ext cx="8595360" cy="0"/>
          </a:xfrm>
          <a:prstGeom prst="line">
            <a:avLst/>
          </a:prstGeom>
          <a:noFill/>
          <a:ln w="19050">
            <a:solidFill>
              <a:srgbClr val="679F7B"/>
            </a:solidFill>
            <a:prstDash val="solid"/>
          </a:ln>
        </p:spPr>
      </p:sp>
      <p:sp>
        <p:nvSpPr>
          <p:cNvPr id="53" name="Text 49"/>
          <p:cNvSpPr/>
          <p:nvPr/>
        </p:nvSpPr>
        <p:spPr>
          <a:xfrm>
            <a:off x="274320" y="4928616"/>
            <a:ext cx="859536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22B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6583680" cy="5143500"/>
          </a:xfrm>
          <a:prstGeom prst="rect">
            <a:avLst/>
          </a:prstGeom>
        </p:spPr>
      </p:pic>
      <p:sp>
        <p:nvSpPr>
          <p:cNvPr id="3" name="Shape 0"/>
          <p:cNvSpPr/>
          <p:nvPr/>
        </p:nvSpPr>
        <p:spPr>
          <a:xfrm>
            <a:off x="0" y="0"/>
            <a:ext cx="6583680" cy="329184"/>
          </a:xfrm>
          <a:prstGeom prst="rect">
            <a:avLst/>
          </a:prstGeom>
          <a:solidFill>
            <a:srgbClr val="222B26">
              <a:alpha val="80000"/>
            </a:srgbClr>
          </a:solidFill>
          <a:ln w="12700">
            <a:solidFill>
              <a:srgbClr val="222B26">
                <a:alpha val="80000"/>
              </a:srgbClr>
            </a:solidFill>
            <a:prstDash val="solid"/>
          </a:ln>
        </p:spPr>
      </p:sp>
      <p:sp>
        <p:nvSpPr>
          <p:cNvPr id="4" name="Shape 1"/>
          <p:cNvSpPr/>
          <p:nvPr/>
        </p:nvSpPr>
        <p:spPr>
          <a:xfrm>
            <a:off x="6583680" y="0"/>
            <a:ext cx="2560320" cy="5143500"/>
          </a:xfrm>
          <a:prstGeom prst="rect">
            <a:avLst/>
          </a:prstGeom>
          <a:solidFill>
            <a:srgbClr val="222B26"/>
          </a:solidFill>
          <a:ln w="12700">
            <a:solidFill>
              <a:srgbClr val="222B26"/>
            </a:solidFill>
            <a:prstDash val="solid"/>
          </a:ln>
        </p:spPr>
      </p:sp>
      <p:sp>
        <p:nvSpPr>
          <p:cNvPr id="5" name="Shape 2"/>
          <p:cNvSpPr/>
          <p:nvPr/>
        </p:nvSpPr>
        <p:spPr>
          <a:xfrm>
            <a:off x="6583680" y="0"/>
            <a:ext cx="54864" cy="5143500"/>
          </a:xfrm>
          <a:prstGeom prst="rect">
            <a:avLst/>
          </a:prstGeom>
          <a:solidFill>
            <a:srgbClr val="679F7B"/>
          </a:solidFill>
          <a:ln w="12700">
            <a:solidFill>
              <a:srgbClr val="679F7B"/>
            </a:solidFill>
            <a:prstDash val="solid"/>
          </a:ln>
        </p:spPr>
      </p:sp>
      <p:sp>
        <p:nvSpPr>
          <p:cNvPr id="6" name="Text 3"/>
          <p:cNvSpPr/>
          <p:nvPr/>
        </p:nvSpPr>
        <p:spPr>
          <a:xfrm>
            <a:off x="6711696" y="164592"/>
            <a:ext cx="2286000" cy="201168"/>
          </a:xfrm>
          <a:prstGeom prst="rect">
            <a:avLst/>
          </a:prstGeom>
          <a:noFill/>
          <a:ln/>
        </p:spPr>
        <p:txBody>
          <a:bodyPr wrap="square" lIns="0" tIns="0" rIns="0" bIns="0" rtlCol="0" anchor="ctr"/>
          <a:lstStyle/>
          <a:p>
            <a:pPr marL="0" indent="0">
              <a:buNone/>
            </a:pPr>
            <a:r>
              <a:rPr lang="en-US" sz="750" b="1" kern="0" spc="200" dirty="0">
                <a:solidFill>
                  <a:srgbClr val="AE8F5D"/>
                </a:solidFill>
                <a:latin typeface="Segoe UI" pitchFamily="34" charset="0"/>
                <a:ea typeface="Segoe UI" pitchFamily="34" charset="-122"/>
                <a:cs typeface="Segoe UI" pitchFamily="34" charset="-120"/>
              </a:rPr>
              <a:t>SCREEN  1 / 3</a:t>
            </a:r>
            <a:endParaRPr lang="en-US" sz="750" dirty="0"/>
          </a:p>
        </p:txBody>
      </p:sp>
      <p:sp>
        <p:nvSpPr>
          <p:cNvPr id="7" name="Text 4"/>
          <p:cNvSpPr/>
          <p:nvPr/>
        </p:nvSpPr>
        <p:spPr>
          <a:xfrm>
            <a:off x="6711696" y="402336"/>
            <a:ext cx="2231136" cy="914400"/>
          </a:xfrm>
          <a:prstGeom prst="rect">
            <a:avLst/>
          </a:prstGeom>
          <a:noFill/>
          <a:ln/>
        </p:spPr>
        <p:txBody>
          <a:bodyPr wrap="square" lIns="0" tIns="0" rIns="0" bIns="0"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President's</a:t>
            </a:r>
            <a:endParaRPr lang="en-US" sz="1600" dirty="0"/>
          </a:p>
          <a:p>
            <a:pPr marL="0" indent="0">
              <a:buNone/>
            </a:pPr>
            <a:r>
              <a:rPr lang="en-US" sz="1600" b="1" dirty="0">
                <a:solidFill>
                  <a:srgbClr val="FFFFFF"/>
                </a:solidFill>
                <a:latin typeface="Segoe UI" pitchFamily="34" charset="0"/>
                <a:ea typeface="Segoe UI" pitchFamily="34" charset="-122"/>
                <a:cs typeface="Segoe UI" pitchFamily="34" charset="-120"/>
              </a:rPr>
              <a:t>Letter</a:t>
            </a:r>
            <a:endParaRPr lang="en-US" sz="1600" dirty="0"/>
          </a:p>
          <a:p>
            <a:pPr marL="0" indent="0">
              <a:buNone/>
            </a:pPr>
            <a:r>
              <a:rPr lang="en-US" sz="1600" b="1" dirty="0">
                <a:solidFill>
                  <a:srgbClr val="FFFFFF"/>
                </a:solidFill>
                <a:latin typeface="Segoe UI" pitchFamily="34" charset="0"/>
                <a:ea typeface="Segoe UI" pitchFamily="34" charset="-122"/>
                <a:cs typeface="Segoe UI" pitchFamily="34" charset="-120"/>
              </a:rPr>
              <a:t>Dashboard</a:t>
            </a:r>
            <a:endParaRPr lang="en-US" sz="1600" dirty="0"/>
          </a:p>
        </p:txBody>
      </p:sp>
      <p:sp>
        <p:nvSpPr>
          <p:cNvPr id="8" name="Shape 5"/>
          <p:cNvSpPr/>
          <p:nvPr/>
        </p:nvSpPr>
        <p:spPr>
          <a:xfrm>
            <a:off x="6711696" y="1371600"/>
            <a:ext cx="2103120" cy="0"/>
          </a:xfrm>
          <a:prstGeom prst="line">
            <a:avLst/>
          </a:prstGeom>
          <a:noFill/>
          <a:ln w="12700">
            <a:solidFill>
              <a:srgbClr val="AE8F5D"/>
            </a:solidFill>
            <a:prstDash val="solid"/>
          </a:ln>
        </p:spPr>
      </p:sp>
      <p:sp>
        <p:nvSpPr>
          <p:cNvPr id="9" name="Shape 6"/>
          <p:cNvSpPr/>
          <p:nvPr/>
        </p:nvSpPr>
        <p:spPr>
          <a:xfrm>
            <a:off x="6711696" y="1527048"/>
            <a:ext cx="109728" cy="109728"/>
          </a:xfrm>
          <a:prstGeom prst="ellipse">
            <a:avLst/>
          </a:prstGeom>
          <a:solidFill>
            <a:srgbClr val="AE8F5D"/>
          </a:solidFill>
          <a:ln w="12700">
            <a:solidFill>
              <a:srgbClr val="AE8F5D"/>
            </a:solidFill>
            <a:prstDash val="solid"/>
          </a:ln>
        </p:spPr>
      </p:sp>
      <p:sp>
        <p:nvSpPr>
          <p:cNvPr id="10" name="Text 7"/>
          <p:cNvSpPr/>
          <p:nvPr/>
        </p:nvSpPr>
        <p:spPr>
          <a:xfrm>
            <a:off x="6876288" y="148132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All deals</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in one view</a:t>
            </a:r>
            <a:endParaRPr lang="en-US" sz="900" dirty="0"/>
          </a:p>
        </p:txBody>
      </p:sp>
      <p:sp>
        <p:nvSpPr>
          <p:cNvPr id="11" name="Text 8"/>
          <p:cNvSpPr/>
          <p:nvPr/>
        </p:nvSpPr>
        <p:spPr>
          <a:xfrm>
            <a:off x="6876288" y="177393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See every community — data readiness, lot count, location — at a glance from a single dashboard</a:t>
            </a:r>
            <a:endParaRPr lang="en-US" sz="850" dirty="0"/>
          </a:p>
        </p:txBody>
      </p:sp>
      <p:sp>
        <p:nvSpPr>
          <p:cNvPr id="12" name="Shape 9"/>
          <p:cNvSpPr/>
          <p:nvPr/>
        </p:nvSpPr>
        <p:spPr>
          <a:xfrm>
            <a:off x="6711696" y="2395728"/>
            <a:ext cx="109728" cy="109728"/>
          </a:xfrm>
          <a:prstGeom prst="ellipse">
            <a:avLst/>
          </a:prstGeom>
          <a:solidFill>
            <a:srgbClr val="AE8F5D"/>
          </a:solidFill>
          <a:ln w="12700">
            <a:solidFill>
              <a:srgbClr val="AE8F5D"/>
            </a:solidFill>
            <a:prstDash val="solid"/>
          </a:ln>
        </p:spPr>
      </p:sp>
      <p:sp>
        <p:nvSpPr>
          <p:cNvPr id="13" name="Text 10"/>
          <p:cNvSpPr/>
          <p:nvPr/>
        </p:nvSpPr>
        <p:spPr>
          <a:xfrm>
            <a:off x="6876288" y="235000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Data Ready</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status</a:t>
            </a:r>
            <a:endParaRPr lang="en-US" sz="900" dirty="0"/>
          </a:p>
        </p:txBody>
      </p:sp>
      <p:sp>
        <p:nvSpPr>
          <p:cNvPr id="14" name="Text 11"/>
          <p:cNvSpPr/>
          <p:nvPr/>
        </p:nvSpPr>
        <p:spPr>
          <a:xfrm>
            <a:off x="6876288" y="264261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Green = all required data points confirmed. Amber = partial — system blocks generation until resolved</a:t>
            </a:r>
            <a:endParaRPr lang="en-US" sz="850" dirty="0"/>
          </a:p>
        </p:txBody>
      </p:sp>
      <p:sp>
        <p:nvSpPr>
          <p:cNvPr id="15" name="Shape 12"/>
          <p:cNvSpPr/>
          <p:nvPr/>
        </p:nvSpPr>
        <p:spPr>
          <a:xfrm>
            <a:off x="6711696" y="3264408"/>
            <a:ext cx="109728" cy="109728"/>
          </a:xfrm>
          <a:prstGeom prst="ellipse">
            <a:avLst/>
          </a:prstGeom>
          <a:solidFill>
            <a:srgbClr val="AE8F5D"/>
          </a:solidFill>
          <a:ln w="12700">
            <a:solidFill>
              <a:srgbClr val="AE8F5D"/>
            </a:solidFill>
            <a:prstDash val="solid"/>
          </a:ln>
        </p:spPr>
      </p:sp>
      <p:sp>
        <p:nvSpPr>
          <p:cNvPr id="16" name="Text 13"/>
          <p:cNvSpPr/>
          <p:nvPr/>
        </p:nvSpPr>
        <p:spPr>
          <a:xfrm>
            <a:off x="6876288" y="321868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One-click</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generation</a:t>
            </a:r>
            <a:endParaRPr lang="en-US" sz="900" dirty="0"/>
          </a:p>
        </p:txBody>
      </p:sp>
      <p:sp>
        <p:nvSpPr>
          <p:cNvPr id="17" name="Text 14"/>
          <p:cNvSpPr/>
          <p:nvPr/>
        </p:nvSpPr>
        <p:spPr>
          <a:xfrm>
            <a:off x="6876288" y="351129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Click 'Generate Letter' and the AI agent synthesizes all Scout data into a structured draft</a:t>
            </a:r>
            <a:endParaRPr lang="en-US" sz="850" dirty="0"/>
          </a:p>
        </p:txBody>
      </p:sp>
      <p:sp>
        <p:nvSpPr>
          <p:cNvPr id="18" name="Shape 15"/>
          <p:cNvSpPr/>
          <p:nvPr/>
        </p:nvSpPr>
        <p:spPr>
          <a:xfrm>
            <a:off x="6711696" y="4133088"/>
            <a:ext cx="109728" cy="109728"/>
          </a:xfrm>
          <a:prstGeom prst="ellipse">
            <a:avLst/>
          </a:prstGeom>
          <a:solidFill>
            <a:srgbClr val="AE8F5D"/>
          </a:solidFill>
          <a:ln w="12700">
            <a:solidFill>
              <a:srgbClr val="AE8F5D"/>
            </a:solidFill>
            <a:prstDash val="solid"/>
          </a:ln>
        </p:spPr>
      </p:sp>
      <p:sp>
        <p:nvSpPr>
          <p:cNvPr id="19" name="Text 16"/>
          <p:cNvSpPr/>
          <p:nvPr/>
        </p:nvSpPr>
        <p:spPr>
          <a:xfrm>
            <a:off x="6876288" y="408736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Letter</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history</a:t>
            </a:r>
            <a:endParaRPr lang="en-US" sz="900" dirty="0"/>
          </a:p>
        </p:txBody>
      </p:sp>
      <p:sp>
        <p:nvSpPr>
          <p:cNvPr id="20" name="Text 17"/>
          <p:cNvSpPr/>
          <p:nvPr/>
        </p:nvSpPr>
        <p:spPr>
          <a:xfrm>
            <a:off x="6876288" y="437997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Previously generated letters tracked by status: Draft, In Review, or Approved — with author and dates</a:t>
            </a:r>
            <a:endParaRPr lang="en-US" sz="850" dirty="0"/>
          </a:p>
        </p:txBody>
      </p:sp>
      <p:sp>
        <p:nvSpPr>
          <p:cNvPr id="21" name="Shape 18"/>
          <p:cNvSpPr/>
          <p:nvPr/>
        </p:nvSpPr>
        <p:spPr>
          <a:xfrm>
            <a:off x="274320" y="4892040"/>
            <a:ext cx="6126480" cy="0"/>
          </a:xfrm>
          <a:prstGeom prst="line">
            <a:avLst/>
          </a:prstGeom>
          <a:noFill/>
          <a:ln w="12700">
            <a:solidFill>
              <a:srgbClr val="679F7B"/>
            </a:solidFill>
            <a:prstDash val="solid"/>
          </a:ln>
        </p:spPr>
      </p:sp>
      <p:sp>
        <p:nvSpPr>
          <p:cNvPr id="22" name="Text 19"/>
          <p:cNvSpPr/>
          <p:nvPr/>
        </p:nvSpPr>
        <p:spPr>
          <a:xfrm>
            <a:off x="274320" y="4937760"/>
            <a:ext cx="612648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22B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6583680" cy="5143500"/>
          </a:xfrm>
          <a:prstGeom prst="rect">
            <a:avLst/>
          </a:prstGeom>
        </p:spPr>
      </p:pic>
      <p:sp>
        <p:nvSpPr>
          <p:cNvPr id="3" name="Shape 0"/>
          <p:cNvSpPr/>
          <p:nvPr/>
        </p:nvSpPr>
        <p:spPr>
          <a:xfrm>
            <a:off x="0" y="0"/>
            <a:ext cx="6583680" cy="329184"/>
          </a:xfrm>
          <a:prstGeom prst="rect">
            <a:avLst/>
          </a:prstGeom>
          <a:solidFill>
            <a:srgbClr val="222B26">
              <a:alpha val="80000"/>
            </a:srgbClr>
          </a:solidFill>
          <a:ln w="12700">
            <a:solidFill>
              <a:srgbClr val="222B26">
                <a:alpha val="80000"/>
              </a:srgbClr>
            </a:solidFill>
            <a:prstDash val="solid"/>
          </a:ln>
        </p:spPr>
      </p:sp>
      <p:sp>
        <p:nvSpPr>
          <p:cNvPr id="4" name="Shape 1"/>
          <p:cNvSpPr/>
          <p:nvPr/>
        </p:nvSpPr>
        <p:spPr>
          <a:xfrm>
            <a:off x="6583680" y="0"/>
            <a:ext cx="2560320" cy="5143500"/>
          </a:xfrm>
          <a:prstGeom prst="rect">
            <a:avLst/>
          </a:prstGeom>
          <a:solidFill>
            <a:srgbClr val="222B26"/>
          </a:solidFill>
          <a:ln w="12700">
            <a:solidFill>
              <a:srgbClr val="222B26"/>
            </a:solidFill>
            <a:prstDash val="solid"/>
          </a:ln>
        </p:spPr>
      </p:sp>
      <p:sp>
        <p:nvSpPr>
          <p:cNvPr id="5" name="Shape 2"/>
          <p:cNvSpPr/>
          <p:nvPr/>
        </p:nvSpPr>
        <p:spPr>
          <a:xfrm>
            <a:off x="6583680" y="0"/>
            <a:ext cx="54864" cy="5143500"/>
          </a:xfrm>
          <a:prstGeom prst="rect">
            <a:avLst/>
          </a:prstGeom>
          <a:solidFill>
            <a:srgbClr val="679F7B"/>
          </a:solidFill>
          <a:ln w="12700">
            <a:solidFill>
              <a:srgbClr val="679F7B"/>
            </a:solidFill>
            <a:prstDash val="solid"/>
          </a:ln>
        </p:spPr>
      </p:sp>
      <p:sp>
        <p:nvSpPr>
          <p:cNvPr id="6" name="Text 3"/>
          <p:cNvSpPr/>
          <p:nvPr/>
        </p:nvSpPr>
        <p:spPr>
          <a:xfrm>
            <a:off x="6711696" y="164592"/>
            <a:ext cx="2286000" cy="201168"/>
          </a:xfrm>
          <a:prstGeom prst="rect">
            <a:avLst/>
          </a:prstGeom>
          <a:noFill/>
          <a:ln/>
        </p:spPr>
        <p:txBody>
          <a:bodyPr wrap="square" lIns="0" tIns="0" rIns="0" bIns="0" rtlCol="0" anchor="ctr"/>
          <a:lstStyle/>
          <a:p>
            <a:pPr marL="0" indent="0">
              <a:buNone/>
            </a:pPr>
            <a:r>
              <a:rPr lang="en-US" sz="750" b="1" kern="0" spc="200" dirty="0">
                <a:solidFill>
                  <a:srgbClr val="AE8F5D"/>
                </a:solidFill>
                <a:latin typeface="Segoe UI" pitchFamily="34" charset="0"/>
                <a:ea typeface="Segoe UI" pitchFamily="34" charset="-122"/>
                <a:cs typeface="Segoe UI" pitchFamily="34" charset="-120"/>
              </a:rPr>
              <a:t>SCREEN  2 / 3</a:t>
            </a:r>
            <a:endParaRPr lang="en-US" sz="750" dirty="0"/>
          </a:p>
        </p:txBody>
      </p:sp>
      <p:sp>
        <p:nvSpPr>
          <p:cNvPr id="7" name="Text 4"/>
          <p:cNvSpPr/>
          <p:nvPr/>
        </p:nvSpPr>
        <p:spPr>
          <a:xfrm>
            <a:off x="6711696" y="402336"/>
            <a:ext cx="2231136" cy="914400"/>
          </a:xfrm>
          <a:prstGeom prst="rect">
            <a:avLst/>
          </a:prstGeom>
          <a:noFill/>
          <a:ln/>
        </p:spPr>
        <p:txBody>
          <a:bodyPr wrap="square" lIns="0" tIns="0" rIns="0" bIns="0"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Intelligent</a:t>
            </a:r>
            <a:endParaRPr lang="en-US" sz="1600" dirty="0"/>
          </a:p>
          <a:p>
            <a:pPr marL="0" indent="0">
              <a:buNone/>
            </a:pPr>
            <a:r>
              <a:rPr lang="en-US" sz="1600" b="1" dirty="0">
                <a:solidFill>
                  <a:srgbClr val="FFFFFF"/>
                </a:solidFill>
                <a:latin typeface="Segoe UI" pitchFamily="34" charset="0"/>
                <a:ea typeface="Segoe UI" pitchFamily="34" charset="-122"/>
                <a:cs typeface="Segoe UI" pitchFamily="34" charset="-120"/>
              </a:rPr>
              <a:t>Data Gap</a:t>
            </a:r>
            <a:endParaRPr lang="en-US" sz="1600" dirty="0"/>
          </a:p>
          <a:p>
            <a:pPr marL="0" indent="0">
              <a:buNone/>
            </a:pPr>
            <a:r>
              <a:rPr lang="en-US" sz="1600" b="1" dirty="0">
                <a:solidFill>
                  <a:srgbClr val="FFFFFF"/>
                </a:solidFill>
                <a:latin typeface="Segoe UI" pitchFamily="34" charset="0"/>
                <a:ea typeface="Segoe UI" pitchFamily="34" charset="-122"/>
                <a:cs typeface="Segoe UI" pitchFamily="34" charset="-120"/>
              </a:rPr>
              <a:t>Detection</a:t>
            </a:r>
            <a:endParaRPr lang="en-US" sz="1600" dirty="0"/>
          </a:p>
        </p:txBody>
      </p:sp>
      <p:sp>
        <p:nvSpPr>
          <p:cNvPr id="8" name="Shape 5"/>
          <p:cNvSpPr/>
          <p:nvPr/>
        </p:nvSpPr>
        <p:spPr>
          <a:xfrm>
            <a:off x="6711696" y="1371600"/>
            <a:ext cx="2103120" cy="0"/>
          </a:xfrm>
          <a:prstGeom prst="line">
            <a:avLst/>
          </a:prstGeom>
          <a:noFill/>
          <a:ln w="12700">
            <a:solidFill>
              <a:srgbClr val="AE8F5D"/>
            </a:solidFill>
            <a:prstDash val="solid"/>
          </a:ln>
        </p:spPr>
      </p:sp>
      <p:sp>
        <p:nvSpPr>
          <p:cNvPr id="9" name="Shape 6"/>
          <p:cNvSpPr/>
          <p:nvPr/>
        </p:nvSpPr>
        <p:spPr>
          <a:xfrm>
            <a:off x="6711696" y="1527048"/>
            <a:ext cx="109728" cy="109728"/>
          </a:xfrm>
          <a:prstGeom prst="ellipse">
            <a:avLst/>
          </a:prstGeom>
          <a:solidFill>
            <a:srgbClr val="AE8F5D"/>
          </a:solidFill>
          <a:ln w="12700">
            <a:solidFill>
              <a:srgbClr val="AE8F5D"/>
            </a:solidFill>
            <a:prstDash val="solid"/>
          </a:ln>
        </p:spPr>
      </p:sp>
      <p:sp>
        <p:nvSpPr>
          <p:cNvPr id="10" name="Text 7"/>
          <p:cNvSpPr/>
          <p:nvPr/>
        </p:nvSpPr>
        <p:spPr>
          <a:xfrm>
            <a:off x="6876288" y="148132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Knows exactly</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what's missing</a:t>
            </a:r>
            <a:endParaRPr lang="en-US" sz="900" dirty="0"/>
          </a:p>
        </p:txBody>
      </p:sp>
      <p:sp>
        <p:nvSpPr>
          <p:cNvPr id="11" name="Text 8"/>
          <p:cNvSpPr/>
          <p:nvPr/>
        </p:nvSpPr>
        <p:spPr>
          <a:xfrm>
            <a:off x="6876288" y="177393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Before generation, the system validates all required data points against the deal record in Scout</a:t>
            </a:r>
            <a:endParaRPr lang="en-US" sz="850" dirty="0"/>
          </a:p>
        </p:txBody>
      </p:sp>
      <p:sp>
        <p:nvSpPr>
          <p:cNvPr id="12" name="Shape 9"/>
          <p:cNvSpPr/>
          <p:nvPr/>
        </p:nvSpPr>
        <p:spPr>
          <a:xfrm>
            <a:off x="6711696" y="2395728"/>
            <a:ext cx="109728" cy="109728"/>
          </a:xfrm>
          <a:prstGeom prst="ellipse">
            <a:avLst/>
          </a:prstGeom>
          <a:solidFill>
            <a:srgbClr val="AE8F5D"/>
          </a:solidFill>
          <a:ln w="12700">
            <a:solidFill>
              <a:srgbClr val="AE8F5D"/>
            </a:solidFill>
            <a:prstDash val="solid"/>
          </a:ln>
        </p:spPr>
      </p:sp>
      <p:sp>
        <p:nvSpPr>
          <p:cNvPr id="13" name="Text 10"/>
          <p:cNvSpPr/>
          <p:nvPr/>
        </p:nvSpPr>
        <p:spPr>
          <a:xfrm>
            <a:off x="6876288" y="235000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Named fields,</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not vague errors</a:t>
            </a:r>
            <a:endParaRPr lang="en-US" sz="900" dirty="0"/>
          </a:p>
        </p:txBody>
      </p:sp>
      <p:sp>
        <p:nvSpPr>
          <p:cNvPr id="14" name="Text 11"/>
          <p:cNvSpPr/>
          <p:nvPr/>
        </p:nvSpPr>
        <p:spPr>
          <a:xfrm>
            <a:off x="6876288" y="264261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Lists precisely which documents are absent — Phase 1, Soil/Geotech Report, Utility Will-Serve Letters</a:t>
            </a:r>
            <a:endParaRPr lang="en-US" sz="850" dirty="0"/>
          </a:p>
        </p:txBody>
      </p:sp>
      <p:sp>
        <p:nvSpPr>
          <p:cNvPr id="15" name="Shape 12"/>
          <p:cNvSpPr/>
          <p:nvPr/>
        </p:nvSpPr>
        <p:spPr>
          <a:xfrm>
            <a:off x="6711696" y="3264408"/>
            <a:ext cx="109728" cy="109728"/>
          </a:xfrm>
          <a:prstGeom prst="ellipse">
            <a:avLst/>
          </a:prstGeom>
          <a:solidFill>
            <a:srgbClr val="AE8F5D"/>
          </a:solidFill>
          <a:ln w="12700">
            <a:solidFill>
              <a:srgbClr val="AE8F5D"/>
            </a:solidFill>
            <a:prstDash val="solid"/>
          </a:ln>
        </p:spPr>
      </p:sp>
      <p:sp>
        <p:nvSpPr>
          <p:cNvPr id="16" name="Text 13"/>
          <p:cNvSpPr/>
          <p:nvPr/>
        </p:nvSpPr>
        <p:spPr>
          <a:xfrm>
            <a:off x="6876288" y="321868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Guided</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resolution</a:t>
            </a:r>
            <a:endParaRPr lang="en-US" sz="900" dirty="0"/>
          </a:p>
        </p:txBody>
      </p:sp>
      <p:sp>
        <p:nvSpPr>
          <p:cNvPr id="17" name="Text 14"/>
          <p:cNvSpPr/>
          <p:nvPr/>
        </p:nvSpPr>
        <p:spPr>
          <a:xfrm>
            <a:off x="6876288" y="351129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'Go to Input Tab' routes the user directly to the specific field needing attention</a:t>
            </a:r>
            <a:endParaRPr lang="en-US" sz="850" dirty="0"/>
          </a:p>
        </p:txBody>
      </p:sp>
      <p:sp>
        <p:nvSpPr>
          <p:cNvPr id="18" name="Shape 15"/>
          <p:cNvSpPr/>
          <p:nvPr/>
        </p:nvSpPr>
        <p:spPr>
          <a:xfrm>
            <a:off x="6711696" y="4133088"/>
            <a:ext cx="109728" cy="109728"/>
          </a:xfrm>
          <a:prstGeom prst="ellipse">
            <a:avLst/>
          </a:prstGeom>
          <a:solidFill>
            <a:srgbClr val="AE8F5D"/>
          </a:solidFill>
          <a:ln w="12700">
            <a:solidFill>
              <a:srgbClr val="AE8F5D"/>
            </a:solidFill>
            <a:prstDash val="solid"/>
          </a:ln>
        </p:spPr>
      </p:sp>
      <p:sp>
        <p:nvSpPr>
          <p:cNvPr id="19" name="Text 16"/>
          <p:cNvSpPr/>
          <p:nvPr/>
        </p:nvSpPr>
        <p:spPr>
          <a:xfrm>
            <a:off x="6876288" y="408736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Quality</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gate</a:t>
            </a:r>
            <a:endParaRPr lang="en-US" sz="900" dirty="0"/>
          </a:p>
        </p:txBody>
      </p:sp>
      <p:sp>
        <p:nvSpPr>
          <p:cNvPr id="20" name="Text 17"/>
          <p:cNvSpPr/>
          <p:nvPr/>
        </p:nvSpPr>
        <p:spPr>
          <a:xfrm>
            <a:off x="6876288" y="437997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No letter is generated until requirements are satisfied — enforces data completeness before AI runs</a:t>
            </a:r>
            <a:endParaRPr lang="en-US" sz="850" dirty="0"/>
          </a:p>
        </p:txBody>
      </p:sp>
      <p:sp>
        <p:nvSpPr>
          <p:cNvPr id="21" name="Shape 18"/>
          <p:cNvSpPr/>
          <p:nvPr/>
        </p:nvSpPr>
        <p:spPr>
          <a:xfrm>
            <a:off x="274320" y="4892040"/>
            <a:ext cx="6126480" cy="0"/>
          </a:xfrm>
          <a:prstGeom prst="line">
            <a:avLst/>
          </a:prstGeom>
          <a:noFill/>
          <a:ln w="12700">
            <a:solidFill>
              <a:srgbClr val="679F7B"/>
            </a:solidFill>
            <a:prstDash val="solid"/>
          </a:ln>
        </p:spPr>
      </p:sp>
      <p:sp>
        <p:nvSpPr>
          <p:cNvPr id="22" name="Text 19"/>
          <p:cNvSpPr/>
          <p:nvPr/>
        </p:nvSpPr>
        <p:spPr>
          <a:xfrm>
            <a:off x="274320" y="4937760"/>
            <a:ext cx="612648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2B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6583680" cy="5143500"/>
          </a:xfrm>
          <a:prstGeom prst="rect">
            <a:avLst/>
          </a:prstGeom>
        </p:spPr>
      </p:pic>
      <p:sp>
        <p:nvSpPr>
          <p:cNvPr id="3" name="Shape 0"/>
          <p:cNvSpPr/>
          <p:nvPr/>
        </p:nvSpPr>
        <p:spPr>
          <a:xfrm>
            <a:off x="0" y="0"/>
            <a:ext cx="6583680" cy="329184"/>
          </a:xfrm>
          <a:prstGeom prst="rect">
            <a:avLst/>
          </a:prstGeom>
          <a:solidFill>
            <a:srgbClr val="222B26">
              <a:alpha val="80000"/>
            </a:srgbClr>
          </a:solidFill>
          <a:ln w="12700">
            <a:solidFill>
              <a:srgbClr val="222B26">
                <a:alpha val="80000"/>
              </a:srgbClr>
            </a:solidFill>
            <a:prstDash val="solid"/>
          </a:ln>
        </p:spPr>
      </p:sp>
      <p:sp>
        <p:nvSpPr>
          <p:cNvPr id="4" name="Shape 1"/>
          <p:cNvSpPr/>
          <p:nvPr/>
        </p:nvSpPr>
        <p:spPr>
          <a:xfrm>
            <a:off x="6583680" y="0"/>
            <a:ext cx="2560320" cy="5143500"/>
          </a:xfrm>
          <a:prstGeom prst="rect">
            <a:avLst/>
          </a:prstGeom>
          <a:solidFill>
            <a:srgbClr val="222B26"/>
          </a:solidFill>
          <a:ln w="12700">
            <a:solidFill>
              <a:srgbClr val="222B26"/>
            </a:solidFill>
            <a:prstDash val="solid"/>
          </a:ln>
        </p:spPr>
      </p:sp>
      <p:sp>
        <p:nvSpPr>
          <p:cNvPr id="5" name="Shape 2"/>
          <p:cNvSpPr/>
          <p:nvPr/>
        </p:nvSpPr>
        <p:spPr>
          <a:xfrm>
            <a:off x="6583680" y="0"/>
            <a:ext cx="54864" cy="5143500"/>
          </a:xfrm>
          <a:prstGeom prst="rect">
            <a:avLst/>
          </a:prstGeom>
          <a:solidFill>
            <a:srgbClr val="679F7B"/>
          </a:solidFill>
          <a:ln w="12700">
            <a:solidFill>
              <a:srgbClr val="679F7B"/>
            </a:solidFill>
            <a:prstDash val="solid"/>
          </a:ln>
        </p:spPr>
      </p:sp>
      <p:sp>
        <p:nvSpPr>
          <p:cNvPr id="6" name="Text 3"/>
          <p:cNvSpPr/>
          <p:nvPr/>
        </p:nvSpPr>
        <p:spPr>
          <a:xfrm>
            <a:off x="6711696" y="164592"/>
            <a:ext cx="2286000" cy="201168"/>
          </a:xfrm>
          <a:prstGeom prst="rect">
            <a:avLst/>
          </a:prstGeom>
          <a:noFill/>
          <a:ln/>
        </p:spPr>
        <p:txBody>
          <a:bodyPr wrap="square" lIns="0" tIns="0" rIns="0" bIns="0" rtlCol="0" anchor="ctr"/>
          <a:lstStyle/>
          <a:p>
            <a:pPr marL="0" indent="0">
              <a:buNone/>
            </a:pPr>
            <a:r>
              <a:rPr lang="en-US" sz="750" b="1" kern="0" spc="200" dirty="0">
                <a:solidFill>
                  <a:srgbClr val="AE8F5D"/>
                </a:solidFill>
                <a:latin typeface="Segoe UI" pitchFamily="34" charset="0"/>
                <a:ea typeface="Segoe UI" pitchFamily="34" charset="-122"/>
                <a:cs typeface="Segoe UI" pitchFamily="34" charset="-120"/>
              </a:rPr>
              <a:t>SCREEN  3 / 3</a:t>
            </a:r>
            <a:endParaRPr lang="en-US" sz="750" dirty="0"/>
          </a:p>
        </p:txBody>
      </p:sp>
      <p:sp>
        <p:nvSpPr>
          <p:cNvPr id="7" name="Text 4"/>
          <p:cNvSpPr/>
          <p:nvPr/>
        </p:nvSpPr>
        <p:spPr>
          <a:xfrm>
            <a:off x="6711696" y="402336"/>
            <a:ext cx="2231136" cy="914400"/>
          </a:xfrm>
          <a:prstGeom prst="rect">
            <a:avLst/>
          </a:prstGeom>
          <a:noFill/>
          <a:ln/>
        </p:spPr>
        <p:txBody>
          <a:bodyPr wrap="square" lIns="0" tIns="0" rIns="0" bIns="0"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AI Letter</a:t>
            </a:r>
            <a:endParaRPr lang="en-US" sz="1600" dirty="0"/>
          </a:p>
          <a:p>
            <a:pPr marL="0" indent="0">
              <a:buNone/>
            </a:pPr>
            <a:r>
              <a:rPr lang="en-US" sz="1600" b="1" dirty="0">
                <a:solidFill>
                  <a:srgbClr val="FFFFFF"/>
                </a:solidFill>
                <a:latin typeface="Segoe UI" pitchFamily="34" charset="0"/>
                <a:ea typeface="Segoe UI" pitchFamily="34" charset="-122"/>
                <a:cs typeface="Segoe UI" pitchFamily="34" charset="-120"/>
              </a:rPr>
              <a:t>Editor &amp;</a:t>
            </a:r>
            <a:endParaRPr lang="en-US" sz="1600" dirty="0"/>
          </a:p>
          <a:p>
            <a:pPr marL="0" indent="0">
              <a:buNone/>
            </a:pPr>
            <a:r>
              <a:rPr lang="en-US" sz="1600" b="1" dirty="0">
                <a:solidFill>
                  <a:srgbClr val="FFFFFF"/>
                </a:solidFill>
                <a:latin typeface="Segoe UI" pitchFamily="34" charset="0"/>
                <a:ea typeface="Segoe UI" pitchFamily="34" charset="-122"/>
                <a:cs typeface="Segoe UI" pitchFamily="34" charset="-120"/>
              </a:rPr>
              <a:t>Assistant</a:t>
            </a:r>
            <a:endParaRPr lang="en-US" sz="1600" dirty="0"/>
          </a:p>
        </p:txBody>
      </p:sp>
      <p:sp>
        <p:nvSpPr>
          <p:cNvPr id="8" name="Shape 5"/>
          <p:cNvSpPr/>
          <p:nvPr/>
        </p:nvSpPr>
        <p:spPr>
          <a:xfrm>
            <a:off x="6711696" y="1371600"/>
            <a:ext cx="2103120" cy="0"/>
          </a:xfrm>
          <a:prstGeom prst="line">
            <a:avLst/>
          </a:prstGeom>
          <a:noFill/>
          <a:ln w="12700">
            <a:solidFill>
              <a:srgbClr val="AE8F5D"/>
            </a:solidFill>
            <a:prstDash val="solid"/>
          </a:ln>
        </p:spPr>
      </p:sp>
      <p:sp>
        <p:nvSpPr>
          <p:cNvPr id="9" name="Shape 6"/>
          <p:cNvSpPr/>
          <p:nvPr/>
        </p:nvSpPr>
        <p:spPr>
          <a:xfrm>
            <a:off x="6711696" y="1527048"/>
            <a:ext cx="109728" cy="109728"/>
          </a:xfrm>
          <a:prstGeom prst="ellipse">
            <a:avLst/>
          </a:prstGeom>
          <a:solidFill>
            <a:srgbClr val="AE8F5D"/>
          </a:solidFill>
          <a:ln w="12700">
            <a:solidFill>
              <a:srgbClr val="AE8F5D"/>
            </a:solidFill>
            <a:prstDash val="solid"/>
          </a:ln>
        </p:spPr>
      </p:sp>
      <p:sp>
        <p:nvSpPr>
          <p:cNvPr id="10" name="Text 7"/>
          <p:cNvSpPr/>
          <p:nvPr/>
        </p:nvSpPr>
        <p:spPr>
          <a:xfrm>
            <a:off x="6876288" y="148132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Generated</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in-app</a:t>
            </a:r>
            <a:endParaRPr lang="en-US" sz="900" dirty="0"/>
          </a:p>
        </p:txBody>
      </p:sp>
      <p:sp>
        <p:nvSpPr>
          <p:cNvPr id="11" name="Text 8"/>
          <p:cNvSpPr/>
          <p:nvPr/>
        </p:nvSpPr>
        <p:spPr>
          <a:xfrm>
            <a:off x="6876288" y="177393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Letter draft opens immediately in a full rich-text editor — no downloading, no copy-paste, no separate tool</a:t>
            </a:r>
            <a:endParaRPr lang="en-US" sz="850" dirty="0"/>
          </a:p>
        </p:txBody>
      </p:sp>
      <p:sp>
        <p:nvSpPr>
          <p:cNvPr id="12" name="Shape 9"/>
          <p:cNvSpPr/>
          <p:nvPr/>
        </p:nvSpPr>
        <p:spPr>
          <a:xfrm>
            <a:off x="6711696" y="2395728"/>
            <a:ext cx="109728" cy="109728"/>
          </a:xfrm>
          <a:prstGeom prst="ellipse">
            <a:avLst/>
          </a:prstGeom>
          <a:solidFill>
            <a:srgbClr val="AE8F5D"/>
          </a:solidFill>
          <a:ln w="12700">
            <a:solidFill>
              <a:srgbClr val="AE8F5D"/>
            </a:solidFill>
            <a:prstDash val="solid"/>
          </a:ln>
        </p:spPr>
      </p:sp>
      <p:sp>
        <p:nvSpPr>
          <p:cNvPr id="13" name="Text 10"/>
          <p:cNvSpPr/>
          <p:nvPr/>
        </p:nvSpPr>
        <p:spPr>
          <a:xfrm>
            <a:off x="6876288" y="235000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Inline AI</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assistant</a:t>
            </a:r>
            <a:endParaRPr lang="en-US" sz="900" dirty="0"/>
          </a:p>
        </p:txBody>
      </p:sp>
      <p:sp>
        <p:nvSpPr>
          <p:cNvPr id="14" name="Text 11"/>
          <p:cNvSpPr/>
          <p:nvPr/>
        </p:nvSpPr>
        <p:spPr>
          <a:xfrm>
            <a:off x="6876288" y="264261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The AI assistant panel knows the deal context — ask it to tighten a section, add a data point, or restructure</a:t>
            </a:r>
            <a:endParaRPr lang="en-US" sz="850" dirty="0"/>
          </a:p>
        </p:txBody>
      </p:sp>
      <p:sp>
        <p:nvSpPr>
          <p:cNvPr id="15" name="Shape 12"/>
          <p:cNvSpPr/>
          <p:nvPr/>
        </p:nvSpPr>
        <p:spPr>
          <a:xfrm>
            <a:off x="6711696" y="3264408"/>
            <a:ext cx="109728" cy="109728"/>
          </a:xfrm>
          <a:prstGeom prst="ellipse">
            <a:avLst/>
          </a:prstGeom>
          <a:solidFill>
            <a:srgbClr val="AE8F5D"/>
          </a:solidFill>
          <a:ln w="12700">
            <a:solidFill>
              <a:srgbClr val="AE8F5D"/>
            </a:solidFill>
            <a:prstDash val="solid"/>
          </a:ln>
        </p:spPr>
      </p:sp>
      <p:sp>
        <p:nvSpPr>
          <p:cNvPr id="16" name="Text 13"/>
          <p:cNvSpPr/>
          <p:nvPr/>
        </p:nvSpPr>
        <p:spPr>
          <a:xfrm>
            <a:off x="6876288" y="321868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Version</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history</a:t>
            </a:r>
            <a:endParaRPr lang="en-US" sz="900" dirty="0"/>
          </a:p>
        </p:txBody>
      </p:sp>
      <p:sp>
        <p:nvSpPr>
          <p:cNvPr id="17" name="Text 14"/>
          <p:cNvSpPr/>
          <p:nvPr/>
        </p:nvSpPr>
        <p:spPr>
          <a:xfrm>
            <a:off x="6876288" y="351129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Every edit saves a version (v1.1, v1.2…) with timestamp and author — full audit trail from day one</a:t>
            </a:r>
            <a:endParaRPr lang="en-US" sz="850" dirty="0"/>
          </a:p>
        </p:txBody>
      </p:sp>
      <p:sp>
        <p:nvSpPr>
          <p:cNvPr id="18" name="Shape 15"/>
          <p:cNvSpPr/>
          <p:nvPr/>
        </p:nvSpPr>
        <p:spPr>
          <a:xfrm>
            <a:off x="6711696" y="4133088"/>
            <a:ext cx="109728" cy="109728"/>
          </a:xfrm>
          <a:prstGeom prst="ellipse">
            <a:avLst/>
          </a:prstGeom>
          <a:solidFill>
            <a:srgbClr val="AE8F5D"/>
          </a:solidFill>
          <a:ln w="12700">
            <a:solidFill>
              <a:srgbClr val="AE8F5D"/>
            </a:solidFill>
            <a:prstDash val="solid"/>
          </a:ln>
        </p:spPr>
      </p:sp>
      <p:sp>
        <p:nvSpPr>
          <p:cNvPr id="19" name="Text 16"/>
          <p:cNvSpPr/>
          <p:nvPr/>
        </p:nvSpPr>
        <p:spPr>
          <a:xfrm>
            <a:off x="6876288" y="4087368"/>
            <a:ext cx="2084832" cy="292608"/>
          </a:xfrm>
          <a:prstGeom prst="rect">
            <a:avLst/>
          </a:prstGeom>
          <a:noFill/>
          <a:ln/>
        </p:spPr>
        <p:txBody>
          <a:bodyPr wrap="square" lIns="0" tIns="0" rIns="0" bIns="0" rtlCol="0" anchor="ctr"/>
          <a:lstStyle/>
          <a:p>
            <a:pPr marL="0" indent="0">
              <a:buNone/>
            </a:pPr>
            <a:r>
              <a:rPr lang="en-US" sz="900" b="1" dirty="0">
                <a:solidFill>
                  <a:srgbClr val="FFFFFF"/>
                </a:solidFill>
                <a:latin typeface="Segoe UI" pitchFamily="34" charset="0"/>
                <a:ea typeface="Segoe UI" pitchFamily="34" charset="-122"/>
                <a:cs typeface="Segoe UI" pitchFamily="34" charset="-120"/>
              </a:rPr>
              <a:t>Approval</a:t>
            </a:r>
            <a:endParaRPr lang="en-US" sz="900" dirty="0"/>
          </a:p>
          <a:p>
            <a:pPr marL="0" indent="0">
              <a:buNone/>
            </a:pPr>
            <a:r>
              <a:rPr lang="en-US" sz="900" b="1" dirty="0">
                <a:solidFill>
                  <a:srgbClr val="FFFFFF"/>
                </a:solidFill>
                <a:latin typeface="Segoe UI" pitchFamily="34" charset="0"/>
                <a:ea typeface="Segoe UI" pitchFamily="34" charset="-122"/>
                <a:cs typeface="Segoe UI" pitchFamily="34" charset="-120"/>
              </a:rPr>
              <a:t>workflow</a:t>
            </a:r>
            <a:endParaRPr lang="en-US" sz="900" dirty="0"/>
          </a:p>
        </p:txBody>
      </p:sp>
      <p:sp>
        <p:nvSpPr>
          <p:cNvPr id="20" name="Text 17"/>
          <p:cNvSpPr/>
          <p:nvPr/>
        </p:nvSpPr>
        <p:spPr>
          <a:xfrm>
            <a:off x="6876288" y="4379976"/>
            <a:ext cx="2084832" cy="502920"/>
          </a:xfrm>
          <a:prstGeom prst="rect">
            <a:avLst/>
          </a:prstGeom>
          <a:noFill/>
          <a:ln/>
        </p:spPr>
        <p:txBody>
          <a:bodyPr wrap="square" lIns="0" tIns="0" rIns="0" bIns="0" rtlCol="0" anchor="ctr"/>
          <a:lstStyle/>
          <a:p>
            <a:pPr marL="0" indent="0">
              <a:lnSpc>
                <a:spcPct val="130000"/>
              </a:lnSpc>
              <a:buNone/>
            </a:pPr>
            <a:r>
              <a:rPr lang="en-US" sz="850" dirty="0">
                <a:solidFill>
                  <a:srgbClr val="9F9C8F"/>
                </a:solidFill>
                <a:latin typeface="Segoe UI" pitchFamily="34" charset="0"/>
                <a:ea typeface="Segoe UI" pitchFamily="34" charset="-122"/>
                <a:cs typeface="Segoe UI" pitchFamily="34" charset="-120"/>
              </a:rPr>
              <a:t>Status progresses Draft → In Review → Approved, visible to the entire team across communities</a:t>
            </a:r>
            <a:endParaRPr lang="en-US" sz="850" dirty="0"/>
          </a:p>
        </p:txBody>
      </p:sp>
      <p:sp>
        <p:nvSpPr>
          <p:cNvPr id="21" name="Shape 18"/>
          <p:cNvSpPr/>
          <p:nvPr/>
        </p:nvSpPr>
        <p:spPr>
          <a:xfrm>
            <a:off x="274320" y="4892040"/>
            <a:ext cx="6126480" cy="0"/>
          </a:xfrm>
          <a:prstGeom prst="line">
            <a:avLst/>
          </a:prstGeom>
          <a:noFill/>
          <a:ln w="12700">
            <a:solidFill>
              <a:srgbClr val="679F7B"/>
            </a:solidFill>
            <a:prstDash val="solid"/>
          </a:ln>
        </p:spPr>
      </p:sp>
      <p:sp>
        <p:nvSpPr>
          <p:cNvPr id="22" name="Text 19"/>
          <p:cNvSpPr/>
          <p:nvPr/>
        </p:nvSpPr>
        <p:spPr>
          <a:xfrm>
            <a:off x="274320" y="4937760"/>
            <a:ext cx="612648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74320" y="73152"/>
            <a:ext cx="1417320" cy="283464"/>
          </a:xfrm>
          <a:prstGeom prst="rect">
            <a:avLst/>
          </a:prstGeom>
        </p:spPr>
      </p:pic>
      <p:sp>
        <p:nvSpPr>
          <p:cNvPr id="3" name="Text 0"/>
          <p:cNvSpPr/>
          <p:nvPr/>
        </p:nvSpPr>
        <p:spPr>
          <a:xfrm>
            <a:off x="6126480" y="109728"/>
            <a:ext cx="1371600" cy="182880"/>
          </a:xfrm>
          <a:prstGeom prst="rect">
            <a:avLst/>
          </a:prstGeom>
          <a:noFill/>
          <a:ln/>
        </p:spPr>
        <p:txBody>
          <a:bodyPr wrap="square" lIns="0" tIns="0" rIns="0" bIns="0" rtlCol="0" anchor="ctr"/>
          <a:lstStyle/>
          <a:p>
            <a:pPr marL="0" indent="0" algn="r">
              <a:buNone/>
            </a:pPr>
            <a:r>
              <a:rPr lang="en-US" sz="750" dirty="0">
                <a:solidFill>
                  <a:srgbClr val="9F9C8F"/>
                </a:solidFill>
                <a:latin typeface="Segoe UI" pitchFamily="34" charset="0"/>
                <a:ea typeface="Segoe UI" pitchFamily="34" charset="-122"/>
                <a:cs typeface="Segoe UI" pitchFamily="34" charset="-120"/>
              </a:rPr>
              <a:t>In partnership with</a:t>
            </a:r>
            <a:endParaRPr lang="en-US" sz="750" dirty="0"/>
          </a:p>
        </p:txBody>
      </p:sp>
      <p:pic>
        <p:nvPicPr>
          <p:cNvPr id="4" name="Image 1" descr="preencoded.png"/>
          <p:cNvPicPr>
            <a:picLocks noChangeAspect="1"/>
          </p:cNvPicPr>
          <p:nvPr/>
        </p:nvPicPr>
        <p:blipFill>
          <a:blip r:embed="rId4"/>
          <a:srcRect/>
          <a:stretch/>
        </p:blipFill>
        <p:spPr>
          <a:xfrm>
            <a:off x="7571232" y="36576"/>
            <a:ext cx="1298448" cy="356616"/>
          </a:xfrm>
          <a:prstGeom prst="rect">
            <a:avLst/>
          </a:prstGeom>
        </p:spPr>
      </p:pic>
      <p:sp>
        <p:nvSpPr>
          <p:cNvPr id="5" name="Shape 1"/>
          <p:cNvSpPr/>
          <p:nvPr/>
        </p:nvSpPr>
        <p:spPr>
          <a:xfrm>
            <a:off x="0" y="438912"/>
            <a:ext cx="9144000" cy="32004"/>
          </a:xfrm>
          <a:prstGeom prst="rect">
            <a:avLst/>
          </a:prstGeom>
          <a:solidFill>
            <a:srgbClr val="679F7B"/>
          </a:solidFill>
          <a:ln w="12700">
            <a:solidFill>
              <a:srgbClr val="679F7B"/>
            </a:solidFill>
            <a:prstDash val="solid"/>
          </a:ln>
        </p:spPr>
      </p:sp>
      <p:sp>
        <p:nvSpPr>
          <p:cNvPr id="6" name="Shape 2"/>
          <p:cNvSpPr/>
          <p:nvPr/>
        </p:nvSpPr>
        <p:spPr>
          <a:xfrm>
            <a:off x="274320" y="548640"/>
            <a:ext cx="8595360" cy="384048"/>
          </a:xfrm>
          <a:prstGeom prst="rect">
            <a:avLst/>
          </a:prstGeom>
          <a:solidFill>
            <a:srgbClr val="679F7B"/>
          </a:solidFill>
          <a:ln w="12700">
            <a:solidFill>
              <a:srgbClr val="679F7B"/>
            </a:solidFill>
            <a:prstDash val="solid"/>
          </a:ln>
        </p:spPr>
      </p:sp>
      <p:sp>
        <p:nvSpPr>
          <p:cNvPr id="7" name="Text 3"/>
          <p:cNvSpPr/>
          <p:nvPr/>
        </p:nvSpPr>
        <p:spPr>
          <a:xfrm>
            <a:off x="411480" y="576072"/>
            <a:ext cx="8321040" cy="329184"/>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  Technical Approach — Three Guiding Principles</a:t>
            </a:r>
            <a:endParaRPr lang="en-US" sz="1300" dirty="0"/>
          </a:p>
        </p:txBody>
      </p:sp>
      <p:sp>
        <p:nvSpPr>
          <p:cNvPr id="8" name="Shape 4"/>
          <p:cNvSpPr/>
          <p:nvPr/>
        </p:nvSpPr>
        <p:spPr>
          <a:xfrm>
            <a:off x="256032" y="1051560"/>
            <a:ext cx="2743200" cy="3639312"/>
          </a:xfrm>
          <a:prstGeom prst="rect">
            <a:avLst/>
          </a:prstGeom>
          <a:solidFill>
            <a:srgbClr val="F2F0EE"/>
          </a:solidFill>
          <a:ln w="12700">
            <a:solidFill>
              <a:srgbClr val="F2F0EE"/>
            </a:solidFill>
            <a:prstDash val="solid"/>
          </a:ln>
        </p:spPr>
      </p:sp>
      <p:sp>
        <p:nvSpPr>
          <p:cNvPr id="9" name="Shape 5"/>
          <p:cNvSpPr/>
          <p:nvPr/>
        </p:nvSpPr>
        <p:spPr>
          <a:xfrm>
            <a:off x="256032" y="1051560"/>
            <a:ext cx="64008" cy="3639312"/>
          </a:xfrm>
          <a:prstGeom prst="rect">
            <a:avLst/>
          </a:prstGeom>
          <a:solidFill>
            <a:srgbClr val="9F2C32"/>
          </a:solidFill>
          <a:ln w="12700">
            <a:solidFill>
              <a:srgbClr val="9F2C32"/>
            </a:solidFill>
            <a:prstDash val="solid"/>
          </a:ln>
        </p:spPr>
      </p:sp>
      <p:sp>
        <p:nvSpPr>
          <p:cNvPr id="10" name="Shape 6"/>
          <p:cNvSpPr/>
          <p:nvPr/>
        </p:nvSpPr>
        <p:spPr>
          <a:xfrm>
            <a:off x="393192" y="1115568"/>
            <a:ext cx="438912" cy="329184"/>
          </a:xfrm>
          <a:prstGeom prst="rect">
            <a:avLst/>
          </a:prstGeom>
          <a:solidFill>
            <a:srgbClr val="9F2C32"/>
          </a:solidFill>
          <a:ln w="12700">
            <a:solidFill>
              <a:srgbClr val="9F2C32"/>
            </a:solidFill>
            <a:prstDash val="solid"/>
          </a:ln>
        </p:spPr>
      </p:sp>
      <p:sp>
        <p:nvSpPr>
          <p:cNvPr id="11" name="Text 7"/>
          <p:cNvSpPr/>
          <p:nvPr/>
        </p:nvSpPr>
        <p:spPr>
          <a:xfrm>
            <a:off x="393192" y="113385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01</a:t>
            </a:r>
            <a:endParaRPr lang="en-US" sz="1100" dirty="0"/>
          </a:p>
        </p:txBody>
      </p:sp>
      <p:sp>
        <p:nvSpPr>
          <p:cNvPr id="12" name="Text 8"/>
          <p:cNvSpPr/>
          <p:nvPr/>
        </p:nvSpPr>
        <p:spPr>
          <a:xfrm>
            <a:off x="393192" y="1554480"/>
            <a:ext cx="2542032" cy="566928"/>
          </a:xfrm>
          <a:prstGeom prst="rect">
            <a:avLst/>
          </a:prstGeom>
          <a:noFill/>
          <a:ln/>
        </p:spPr>
        <p:txBody>
          <a:bodyPr wrap="square" lIns="0" tIns="0" rIns="0" bIns="0" rtlCol="0" anchor="ctr"/>
          <a:lstStyle/>
          <a:p>
            <a:pPr marL="0" indent="0">
              <a:buNone/>
            </a:pPr>
            <a:r>
              <a:rPr lang="en-US" sz="1200" b="1" dirty="0">
                <a:solidFill>
                  <a:srgbClr val="222B26"/>
                </a:solidFill>
                <a:latin typeface="Segoe UI" pitchFamily="34" charset="0"/>
                <a:ea typeface="Segoe UI" pitchFamily="34" charset="-122"/>
                <a:cs typeface="Segoe UI" pitchFamily="34" charset="-120"/>
              </a:rPr>
              <a:t>🔒  Zero Impact on</a:t>
            </a:r>
            <a:endParaRPr lang="en-US" sz="1200" dirty="0"/>
          </a:p>
          <a:p>
            <a:pPr marL="0" indent="0">
              <a:buNone/>
            </a:pPr>
            <a:r>
              <a:rPr lang="en-US" sz="1200" b="1" dirty="0">
                <a:solidFill>
                  <a:srgbClr val="222B26"/>
                </a:solidFill>
                <a:latin typeface="Segoe UI" pitchFamily="34" charset="0"/>
                <a:ea typeface="Segoe UI" pitchFamily="34" charset="-122"/>
                <a:cs typeface="Segoe UI" pitchFamily="34" charset="-120"/>
              </a:rPr>
              <a:t>Existing Scout</a:t>
            </a:r>
            <a:endParaRPr lang="en-US" sz="1200" dirty="0"/>
          </a:p>
        </p:txBody>
      </p:sp>
      <p:sp>
        <p:nvSpPr>
          <p:cNvPr id="13" name="Text 9"/>
          <p:cNvSpPr/>
          <p:nvPr/>
        </p:nvSpPr>
        <p:spPr>
          <a:xfrm>
            <a:off x="393192" y="2212848"/>
            <a:ext cx="2542032" cy="2340864"/>
          </a:xfrm>
          <a:prstGeom prst="rect">
            <a:avLst/>
          </a:prstGeom>
          <a:noFill/>
          <a:ln/>
        </p:spPr>
        <p:txBody>
          <a:bodyPr wrap="square" lIns="0" tIns="0" rIns="0" bIns="0" rtlCol="0" anchor="ctr"/>
          <a:lstStyle/>
          <a:p>
            <a:pPr marL="0" indent="0">
              <a:lnSpc>
                <a:spcPct val="145000"/>
              </a:lnSpc>
              <a:buNone/>
            </a:pPr>
            <a:r>
              <a:rPr lang="en-US" sz="950" dirty="0">
                <a:solidFill>
                  <a:srgbClr val="222B26"/>
                </a:solidFill>
                <a:latin typeface="Segoe UI" pitchFamily="34" charset="0"/>
                <a:ea typeface="Segoe UI" pitchFamily="34" charset="-122"/>
                <a:cs typeface="Segoe UI" pitchFamily="34" charset="-120"/>
              </a:rPr>
              <a:t>No changes to the .NET backend, no edits to existing database tables, no risk of regression in current workflows.</a:t>
            </a:r>
            <a:endParaRPr lang="en-US" sz="950" dirty="0"/>
          </a:p>
          <a:p>
            <a:pPr marL="0" indent="0">
              <a:lnSpc>
                <a:spcPct val="145000"/>
              </a:lnSpc>
              <a:buNone/>
            </a:pPr>
            <a:endParaRPr lang="en-US" sz="950" dirty="0"/>
          </a:p>
          <a:p>
            <a:pPr marL="0" indent="0">
              <a:lnSpc>
                <a:spcPct val="145000"/>
              </a:lnSpc>
              <a:buNone/>
            </a:pPr>
            <a:r>
              <a:rPr lang="en-US" sz="950" dirty="0">
                <a:solidFill>
                  <a:srgbClr val="222B26"/>
                </a:solidFill>
                <a:latin typeface="Segoe UI" pitchFamily="34" charset="0"/>
                <a:ea typeface="Segoe UI" pitchFamily="34" charset="-122"/>
                <a:cs typeface="Segoe UI" pitchFamily="34" charset="-120"/>
              </a:rPr>
              <a:t>The President's Letter service sits alongside Scout — reading data via API, not modifying it.</a:t>
            </a:r>
            <a:endParaRPr lang="en-US" sz="950" dirty="0"/>
          </a:p>
        </p:txBody>
      </p:sp>
      <p:sp>
        <p:nvSpPr>
          <p:cNvPr id="14" name="Shape 10"/>
          <p:cNvSpPr/>
          <p:nvPr/>
        </p:nvSpPr>
        <p:spPr>
          <a:xfrm>
            <a:off x="3127248" y="1051560"/>
            <a:ext cx="2743200" cy="3639312"/>
          </a:xfrm>
          <a:prstGeom prst="rect">
            <a:avLst/>
          </a:prstGeom>
          <a:solidFill>
            <a:srgbClr val="F2F0EE"/>
          </a:solidFill>
          <a:ln w="12700">
            <a:solidFill>
              <a:srgbClr val="F2F0EE"/>
            </a:solidFill>
            <a:prstDash val="solid"/>
          </a:ln>
        </p:spPr>
      </p:sp>
      <p:sp>
        <p:nvSpPr>
          <p:cNvPr id="15" name="Shape 11"/>
          <p:cNvSpPr/>
          <p:nvPr/>
        </p:nvSpPr>
        <p:spPr>
          <a:xfrm>
            <a:off x="3127248" y="1051560"/>
            <a:ext cx="64008" cy="3639312"/>
          </a:xfrm>
          <a:prstGeom prst="rect">
            <a:avLst/>
          </a:prstGeom>
          <a:solidFill>
            <a:srgbClr val="AE8F5D"/>
          </a:solidFill>
          <a:ln w="12700">
            <a:solidFill>
              <a:srgbClr val="AE8F5D"/>
            </a:solidFill>
            <a:prstDash val="solid"/>
          </a:ln>
        </p:spPr>
      </p:sp>
      <p:sp>
        <p:nvSpPr>
          <p:cNvPr id="16" name="Shape 12"/>
          <p:cNvSpPr/>
          <p:nvPr/>
        </p:nvSpPr>
        <p:spPr>
          <a:xfrm>
            <a:off x="3264408" y="1115568"/>
            <a:ext cx="438912" cy="329184"/>
          </a:xfrm>
          <a:prstGeom prst="rect">
            <a:avLst/>
          </a:prstGeom>
          <a:solidFill>
            <a:srgbClr val="AE8F5D"/>
          </a:solidFill>
          <a:ln w="12700">
            <a:solidFill>
              <a:srgbClr val="AE8F5D"/>
            </a:solidFill>
            <a:prstDash val="solid"/>
          </a:ln>
        </p:spPr>
      </p:sp>
      <p:sp>
        <p:nvSpPr>
          <p:cNvPr id="17" name="Text 13"/>
          <p:cNvSpPr/>
          <p:nvPr/>
        </p:nvSpPr>
        <p:spPr>
          <a:xfrm>
            <a:off x="3264408" y="113385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02</a:t>
            </a:r>
            <a:endParaRPr lang="en-US" sz="1100" dirty="0"/>
          </a:p>
        </p:txBody>
      </p:sp>
      <p:sp>
        <p:nvSpPr>
          <p:cNvPr id="18" name="Text 14"/>
          <p:cNvSpPr/>
          <p:nvPr/>
        </p:nvSpPr>
        <p:spPr>
          <a:xfrm>
            <a:off x="3264408" y="1554480"/>
            <a:ext cx="2542032" cy="566928"/>
          </a:xfrm>
          <a:prstGeom prst="rect">
            <a:avLst/>
          </a:prstGeom>
          <a:noFill/>
          <a:ln/>
        </p:spPr>
        <p:txBody>
          <a:bodyPr wrap="square" lIns="0" tIns="0" rIns="0" bIns="0" rtlCol="0" anchor="ctr"/>
          <a:lstStyle/>
          <a:p>
            <a:pPr marL="0" indent="0">
              <a:buNone/>
            </a:pPr>
            <a:r>
              <a:rPr lang="en-US" sz="1200" b="1" dirty="0">
                <a:solidFill>
                  <a:srgbClr val="222B26"/>
                </a:solidFill>
                <a:latin typeface="Segoe UI" pitchFamily="34" charset="0"/>
                <a:ea typeface="Segoe UI" pitchFamily="34" charset="-122"/>
                <a:cs typeface="Segoe UI" pitchFamily="34" charset="-120"/>
              </a:rPr>
              <a:t>🗄  New Data, Cleanly</a:t>
            </a:r>
            <a:endParaRPr lang="en-US" sz="1200" dirty="0"/>
          </a:p>
          <a:p>
            <a:pPr marL="0" indent="0">
              <a:buNone/>
            </a:pPr>
            <a:r>
              <a:rPr lang="en-US" sz="1200" b="1" dirty="0">
                <a:solidFill>
                  <a:srgbClr val="222B26"/>
                </a:solidFill>
                <a:latin typeface="Segoe UI" pitchFamily="34" charset="0"/>
                <a:ea typeface="Segoe UI" pitchFamily="34" charset="-122"/>
                <a:cs typeface="Segoe UI" pitchFamily="34" charset="-120"/>
              </a:rPr>
              <a:t>Separated</a:t>
            </a:r>
            <a:endParaRPr lang="en-US" sz="1200" dirty="0"/>
          </a:p>
        </p:txBody>
      </p:sp>
      <p:sp>
        <p:nvSpPr>
          <p:cNvPr id="19" name="Text 15"/>
          <p:cNvSpPr/>
          <p:nvPr/>
        </p:nvSpPr>
        <p:spPr>
          <a:xfrm>
            <a:off x="3264408" y="2212848"/>
            <a:ext cx="2542032" cy="2340864"/>
          </a:xfrm>
          <a:prstGeom prst="rect">
            <a:avLst/>
          </a:prstGeom>
          <a:noFill/>
          <a:ln/>
        </p:spPr>
        <p:txBody>
          <a:bodyPr wrap="square" lIns="0" tIns="0" rIns="0" bIns="0" rtlCol="0" anchor="ctr"/>
          <a:lstStyle/>
          <a:p>
            <a:pPr marL="0" indent="0">
              <a:lnSpc>
                <a:spcPct val="145000"/>
              </a:lnSpc>
              <a:buNone/>
            </a:pPr>
            <a:r>
              <a:rPr lang="en-US" sz="950" dirty="0">
                <a:solidFill>
                  <a:srgbClr val="222B26"/>
                </a:solidFill>
                <a:latin typeface="Segoe UI" pitchFamily="34" charset="0"/>
                <a:ea typeface="Segoe UI" pitchFamily="34" charset="-122"/>
                <a:cs typeface="Segoe UI" pitchFamily="34" charset="-120"/>
              </a:rPr>
              <a:t>Supplemental inputs not yet in Scout — Phase 1 assessments, utility will-serve letters, site imagery — are stored in new tables linked by deal ID.</a:t>
            </a:r>
            <a:endParaRPr lang="en-US" sz="950" dirty="0"/>
          </a:p>
          <a:p>
            <a:pPr marL="0" indent="0">
              <a:lnSpc>
                <a:spcPct val="145000"/>
              </a:lnSpc>
              <a:buNone/>
            </a:pPr>
            <a:endParaRPr lang="en-US" sz="950" dirty="0"/>
          </a:p>
          <a:p>
            <a:pPr marL="0" indent="0">
              <a:lnSpc>
                <a:spcPct val="145000"/>
              </a:lnSpc>
              <a:buNone/>
            </a:pPr>
            <a:r>
              <a:rPr lang="en-US" sz="950" dirty="0">
                <a:solidFill>
                  <a:srgbClr val="222B26"/>
                </a:solidFill>
                <a:latin typeface="Segoe UI" pitchFamily="34" charset="0"/>
                <a:ea typeface="Segoe UI" pitchFamily="34" charset="-122"/>
                <a:cs typeface="Segoe UI" pitchFamily="34" charset="-120"/>
              </a:rPr>
              <a:t>Existing schema is untouched.</a:t>
            </a:r>
            <a:endParaRPr lang="en-US" sz="950" dirty="0"/>
          </a:p>
        </p:txBody>
      </p:sp>
      <p:sp>
        <p:nvSpPr>
          <p:cNvPr id="20" name="Shape 16"/>
          <p:cNvSpPr/>
          <p:nvPr/>
        </p:nvSpPr>
        <p:spPr>
          <a:xfrm>
            <a:off x="5998464" y="1051560"/>
            <a:ext cx="2743200" cy="3639312"/>
          </a:xfrm>
          <a:prstGeom prst="rect">
            <a:avLst/>
          </a:prstGeom>
          <a:solidFill>
            <a:srgbClr val="F2F0EE"/>
          </a:solidFill>
          <a:ln w="12700">
            <a:solidFill>
              <a:srgbClr val="F2F0EE"/>
            </a:solidFill>
            <a:prstDash val="solid"/>
          </a:ln>
        </p:spPr>
      </p:sp>
      <p:sp>
        <p:nvSpPr>
          <p:cNvPr id="21" name="Shape 17"/>
          <p:cNvSpPr/>
          <p:nvPr/>
        </p:nvSpPr>
        <p:spPr>
          <a:xfrm>
            <a:off x="5998464" y="1051560"/>
            <a:ext cx="64008" cy="3639312"/>
          </a:xfrm>
          <a:prstGeom prst="rect">
            <a:avLst/>
          </a:prstGeom>
          <a:solidFill>
            <a:srgbClr val="679F7B"/>
          </a:solidFill>
          <a:ln w="12700">
            <a:solidFill>
              <a:srgbClr val="679F7B"/>
            </a:solidFill>
            <a:prstDash val="solid"/>
          </a:ln>
        </p:spPr>
      </p:sp>
      <p:sp>
        <p:nvSpPr>
          <p:cNvPr id="22" name="Shape 18"/>
          <p:cNvSpPr/>
          <p:nvPr/>
        </p:nvSpPr>
        <p:spPr>
          <a:xfrm>
            <a:off x="6135624" y="1115568"/>
            <a:ext cx="438912" cy="329184"/>
          </a:xfrm>
          <a:prstGeom prst="rect">
            <a:avLst/>
          </a:prstGeom>
          <a:solidFill>
            <a:srgbClr val="679F7B"/>
          </a:solidFill>
          <a:ln w="12700">
            <a:solidFill>
              <a:srgbClr val="679F7B"/>
            </a:solidFill>
            <a:prstDash val="solid"/>
          </a:ln>
        </p:spPr>
      </p:sp>
      <p:sp>
        <p:nvSpPr>
          <p:cNvPr id="23" name="Text 19"/>
          <p:cNvSpPr/>
          <p:nvPr/>
        </p:nvSpPr>
        <p:spPr>
          <a:xfrm>
            <a:off x="6135624" y="1133856"/>
            <a:ext cx="438912"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03</a:t>
            </a:r>
            <a:endParaRPr lang="en-US" sz="1100" dirty="0"/>
          </a:p>
        </p:txBody>
      </p:sp>
      <p:sp>
        <p:nvSpPr>
          <p:cNvPr id="24" name="Text 20"/>
          <p:cNvSpPr/>
          <p:nvPr/>
        </p:nvSpPr>
        <p:spPr>
          <a:xfrm>
            <a:off x="6135624" y="1554480"/>
            <a:ext cx="2542032" cy="566928"/>
          </a:xfrm>
          <a:prstGeom prst="rect">
            <a:avLst/>
          </a:prstGeom>
          <a:noFill/>
          <a:ln/>
        </p:spPr>
        <p:txBody>
          <a:bodyPr wrap="square" lIns="0" tIns="0" rIns="0" bIns="0" rtlCol="0" anchor="ctr"/>
          <a:lstStyle/>
          <a:p>
            <a:pPr marL="0" indent="0">
              <a:buNone/>
            </a:pPr>
            <a:r>
              <a:rPr lang="en-US" sz="1200" b="1" dirty="0">
                <a:solidFill>
                  <a:srgbClr val="222B26"/>
                </a:solidFill>
                <a:latin typeface="Segoe UI" pitchFamily="34" charset="0"/>
                <a:ea typeface="Segoe UI" pitchFamily="34" charset="-122"/>
                <a:cs typeface="Segoe UI" pitchFamily="34" charset="-120"/>
              </a:rPr>
              <a:t>⚡  Claude AI Powers</a:t>
            </a:r>
            <a:endParaRPr lang="en-US" sz="1200" dirty="0"/>
          </a:p>
          <a:p>
            <a:pPr marL="0" indent="0">
              <a:buNone/>
            </a:pPr>
            <a:r>
              <a:rPr lang="en-US" sz="1200" b="1" dirty="0">
                <a:solidFill>
                  <a:srgbClr val="222B26"/>
                </a:solidFill>
                <a:latin typeface="Segoe UI" pitchFamily="34" charset="0"/>
                <a:ea typeface="Segoe UI" pitchFamily="34" charset="-122"/>
                <a:cs typeface="Segoe UI" pitchFamily="34" charset="-120"/>
              </a:rPr>
              <a:t>the Agent</a:t>
            </a:r>
            <a:endParaRPr lang="en-US" sz="1200" dirty="0"/>
          </a:p>
        </p:txBody>
      </p:sp>
      <p:sp>
        <p:nvSpPr>
          <p:cNvPr id="25" name="Text 21"/>
          <p:cNvSpPr/>
          <p:nvPr/>
        </p:nvSpPr>
        <p:spPr>
          <a:xfrm>
            <a:off x="6135624" y="2212848"/>
            <a:ext cx="2542032" cy="2340864"/>
          </a:xfrm>
          <a:prstGeom prst="rect">
            <a:avLst/>
          </a:prstGeom>
          <a:noFill/>
          <a:ln/>
        </p:spPr>
        <p:txBody>
          <a:bodyPr wrap="square" lIns="0" tIns="0" rIns="0" bIns="0" rtlCol="0" anchor="ctr"/>
          <a:lstStyle/>
          <a:p>
            <a:pPr marL="0" indent="0">
              <a:lnSpc>
                <a:spcPct val="145000"/>
              </a:lnSpc>
              <a:buNone/>
            </a:pPr>
            <a:r>
              <a:rPr lang="en-US" sz="950" dirty="0">
                <a:solidFill>
                  <a:srgbClr val="222B26"/>
                </a:solidFill>
                <a:latin typeface="Segoe UI" pitchFamily="34" charset="0"/>
                <a:ea typeface="Segoe UI" pitchFamily="34" charset="-122"/>
                <a:cs typeface="Segoe UI" pitchFamily="34" charset="-120"/>
              </a:rPr>
              <a:t>Upgrading from GPT-4.1 mini to Claude Sonnet 4.6 — a context window large enough for complete 40-page letters, vision capability for maps and imagery, and significantly better narrative output.</a:t>
            </a:r>
            <a:endParaRPr lang="en-US" sz="950" dirty="0"/>
          </a:p>
        </p:txBody>
      </p:sp>
      <p:sp>
        <p:nvSpPr>
          <p:cNvPr id="26" name="Shape 22"/>
          <p:cNvSpPr/>
          <p:nvPr/>
        </p:nvSpPr>
        <p:spPr>
          <a:xfrm>
            <a:off x="274320" y="4882896"/>
            <a:ext cx="8595360" cy="0"/>
          </a:xfrm>
          <a:prstGeom prst="line">
            <a:avLst/>
          </a:prstGeom>
          <a:noFill/>
          <a:ln w="19050">
            <a:solidFill>
              <a:srgbClr val="679F7B"/>
            </a:solidFill>
            <a:prstDash val="solid"/>
          </a:ln>
        </p:spPr>
      </p:sp>
      <p:sp>
        <p:nvSpPr>
          <p:cNvPr id="27" name="Text 23"/>
          <p:cNvSpPr/>
          <p:nvPr/>
        </p:nvSpPr>
        <p:spPr>
          <a:xfrm>
            <a:off x="274320" y="4928616"/>
            <a:ext cx="859536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pic>
        <p:nvPicPr>
          <p:cNvPr id="28" name="Picture 27">
            <a:extLst>
              <a:ext uri="{FF2B5EF4-FFF2-40B4-BE49-F238E27FC236}">
                <a16:creationId xmlns:a16="http://schemas.microsoft.com/office/drawing/2014/main" id="{00C776FA-99FF-1C7A-BE90-F789911CE5D0}"/>
              </a:ext>
            </a:extLst>
          </p:cNvPr>
          <p:cNvPicPr>
            <a:picLocks noChangeAspect="1"/>
          </p:cNvPicPr>
          <p:nvPr/>
        </p:nvPicPr>
        <p:blipFill>
          <a:blip r:embed="rId5"/>
          <a:stretch>
            <a:fillRect/>
          </a:stretch>
        </p:blipFill>
        <p:spPr>
          <a:xfrm>
            <a:off x="274320" y="84807"/>
            <a:ext cx="1718253" cy="3288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74320" y="73152"/>
            <a:ext cx="1417320" cy="283464"/>
          </a:xfrm>
          <a:prstGeom prst="rect">
            <a:avLst/>
          </a:prstGeom>
        </p:spPr>
      </p:pic>
      <p:sp>
        <p:nvSpPr>
          <p:cNvPr id="3" name="Text 0"/>
          <p:cNvSpPr/>
          <p:nvPr/>
        </p:nvSpPr>
        <p:spPr>
          <a:xfrm>
            <a:off x="6126480" y="109728"/>
            <a:ext cx="1371600" cy="182880"/>
          </a:xfrm>
          <a:prstGeom prst="rect">
            <a:avLst/>
          </a:prstGeom>
          <a:noFill/>
          <a:ln/>
        </p:spPr>
        <p:txBody>
          <a:bodyPr wrap="square" lIns="0" tIns="0" rIns="0" bIns="0" rtlCol="0" anchor="ctr"/>
          <a:lstStyle/>
          <a:p>
            <a:pPr marL="0" indent="0" algn="r">
              <a:buNone/>
            </a:pPr>
            <a:r>
              <a:rPr lang="en-US" sz="750" dirty="0">
                <a:solidFill>
                  <a:srgbClr val="9F9C8F"/>
                </a:solidFill>
                <a:latin typeface="Segoe UI" pitchFamily="34" charset="0"/>
                <a:ea typeface="Segoe UI" pitchFamily="34" charset="-122"/>
                <a:cs typeface="Segoe UI" pitchFamily="34" charset="-120"/>
              </a:rPr>
              <a:t>In partnership with</a:t>
            </a:r>
            <a:endParaRPr lang="en-US" sz="750" dirty="0"/>
          </a:p>
        </p:txBody>
      </p:sp>
      <p:pic>
        <p:nvPicPr>
          <p:cNvPr id="4" name="Image 1" descr="preencoded.png"/>
          <p:cNvPicPr>
            <a:picLocks noChangeAspect="1"/>
          </p:cNvPicPr>
          <p:nvPr/>
        </p:nvPicPr>
        <p:blipFill>
          <a:blip r:embed="rId4"/>
          <a:srcRect/>
          <a:stretch/>
        </p:blipFill>
        <p:spPr>
          <a:xfrm>
            <a:off x="7571232" y="36576"/>
            <a:ext cx="1298448" cy="356616"/>
          </a:xfrm>
          <a:prstGeom prst="rect">
            <a:avLst/>
          </a:prstGeom>
        </p:spPr>
      </p:pic>
      <p:sp>
        <p:nvSpPr>
          <p:cNvPr id="5" name="Shape 1"/>
          <p:cNvSpPr/>
          <p:nvPr/>
        </p:nvSpPr>
        <p:spPr>
          <a:xfrm>
            <a:off x="0" y="438912"/>
            <a:ext cx="9144000" cy="32004"/>
          </a:xfrm>
          <a:prstGeom prst="rect">
            <a:avLst/>
          </a:prstGeom>
          <a:solidFill>
            <a:srgbClr val="679F7B"/>
          </a:solidFill>
          <a:ln w="12700">
            <a:solidFill>
              <a:srgbClr val="679F7B"/>
            </a:solidFill>
            <a:prstDash val="solid"/>
          </a:ln>
        </p:spPr>
      </p:sp>
      <p:sp>
        <p:nvSpPr>
          <p:cNvPr id="6" name="Shape 2"/>
          <p:cNvSpPr/>
          <p:nvPr/>
        </p:nvSpPr>
        <p:spPr>
          <a:xfrm>
            <a:off x="274320" y="548640"/>
            <a:ext cx="8595360" cy="384048"/>
          </a:xfrm>
          <a:prstGeom prst="rect">
            <a:avLst/>
          </a:prstGeom>
          <a:solidFill>
            <a:srgbClr val="679F7B"/>
          </a:solidFill>
          <a:ln w="12700">
            <a:solidFill>
              <a:srgbClr val="679F7B"/>
            </a:solidFill>
            <a:prstDash val="solid"/>
          </a:ln>
        </p:spPr>
      </p:sp>
      <p:sp>
        <p:nvSpPr>
          <p:cNvPr id="7" name="Text 3"/>
          <p:cNvSpPr/>
          <p:nvPr/>
        </p:nvSpPr>
        <p:spPr>
          <a:xfrm>
            <a:off x="411480" y="576072"/>
            <a:ext cx="8321040" cy="329184"/>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  Approximately Six Weeks from Green Light to Production</a:t>
            </a:r>
            <a:endParaRPr lang="en-US" sz="1300" dirty="0"/>
          </a:p>
        </p:txBody>
      </p:sp>
      <p:sp>
        <p:nvSpPr>
          <p:cNvPr id="8" name="Shape 4"/>
          <p:cNvSpPr/>
          <p:nvPr/>
        </p:nvSpPr>
        <p:spPr>
          <a:xfrm>
            <a:off x="256032" y="1060704"/>
            <a:ext cx="1828800" cy="914400"/>
          </a:xfrm>
          <a:prstGeom prst="rect">
            <a:avLst/>
          </a:prstGeom>
          <a:solidFill>
            <a:srgbClr val="679F7B"/>
          </a:solidFill>
          <a:ln w="12700">
            <a:solidFill>
              <a:srgbClr val="679F7B"/>
            </a:solidFill>
            <a:prstDash val="solid"/>
          </a:ln>
        </p:spPr>
      </p:sp>
      <p:sp>
        <p:nvSpPr>
          <p:cNvPr id="9" name="Shape 5"/>
          <p:cNvSpPr/>
          <p:nvPr/>
        </p:nvSpPr>
        <p:spPr>
          <a:xfrm>
            <a:off x="256032" y="1060704"/>
            <a:ext cx="1828800" cy="64008"/>
          </a:xfrm>
          <a:prstGeom prst="rect">
            <a:avLst/>
          </a:prstGeom>
          <a:solidFill>
            <a:srgbClr val="AE8F5D"/>
          </a:solidFill>
          <a:ln w="12700">
            <a:solidFill>
              <a:srgbClr val="AE8F5D"/>
            </a:solidFill>
            <a:prstDash val="solid"/>
          </a:ln>
        </p:spPr>
      </p:sp>
      <p:sp>
        <p:nvSpPr>
          <p:cNvPr id="10" name="Text 6"/>
          <p:cNvSpPr/>
          <p:nvPr/>
        </p:nvSpPr>
        <p:spPr>
          <a:xfrm>
            <a:off x="256032" y="1097280"/>
            <a:ext cx="1828800" cy="475488"/>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~223 hrs</a:t>
            </a:r>
            <a:endParaRPr lang="en-US" sz="2400" dirty="0"/>
          </a:p>
        </p:txBody>
      </p:sp>
      <p:sp>
        <p:nvSpPr>
          <p:cNvPr id="11" name="Text 7"/>
          <p:cNvSpPr/>
          <p:nvPr/>
        </p:nvSpPr>
        <p:spPr>
          <a:xfrm>
            <a:off x="256032" y="1572768"/>
            <a:ext cx="1828800" cy="365760"/>
          </a:xfrm>
          <a:prstGeom prst="rect">
            <a:avLst/>
          </a:prstGeom>
          <a:noFill/>
          <a:ln/>
        </p:spPr>
        <p:txBody>
          <a:bodyPr wrap="square" lIns="0" tIns="0" rIns="0" bIns="0" rtlCol="0" anchor="ctr"/>
          <a:lstStyle/>
          <a:p>
            <a:pPr marL="0" indent="0" algn="ctr">
              <a:buNone/>
            </a:pPr>
            <a:r>
              <a:rPr lang="en-US" sz="850" dirty="0">
                <a:solidFill>
                  <a:srgbClr val="FFFFFF"/>
                </a:solidFill>
                <a:latin typeface="Segoe UI" pitchFamily="34" charset="0"/>
                <a:ea typeface="Segoe UI" pitchFamily="34" charset="-122"/>
                <a:cs typeface="Segoe UI" pitchFamily="34" charset="-120"/>
              </a:rPr>
              <a:t>Combined effort</a:t>
            </a:r>
            <a:endParaRPr lang="en-US" sz="850" dirty="0"/>
          </a:p>
          <a:p>
            <a:pPr marL="0" indent="0" algn="ctr">
              <a:buNone/>
            </a:pPr>
            <a:r>
              <a:rPr lang="en-US" sz="850" dirty="0">
                <a:solidFill>
                  <a:srgbClr val="FFFFFF"/>
                </a:solidFill>
                <a:latin typeface="Segoe UI" pitchFamily="34" charset="0"/>
                <a:ea typeface="Segoe UI" pitchFamily="34" charset="-122"/>
                <a:cs typeface="Segoe UI" pitchFamily="34" charset="-120"/>
              </a:rPr>
              <a:t>across all streams</a:t>
            </a:r>
            <a:endParaRPr lang="en-US" sz="850" dirty="0"/>
          </a:p>
        </p:txBody>
      </p:sp>
      <p:sp>
        <p:nvSpPr>
          <p:cNvPr id="12" name="Shape 8"/>
          <p:cNvSpPr/>
          <p:nvPr/>
        </p:nvSpPr>
        <p:spPr>
          <a:xfrm>
            <a:off x="2194560" y="1060704"/>
            <a:ext cx="1828800" cy="914400"/>
          </a:xfrm>
          <a:prstGeom prst="rect">
            <a:avLst/>
          </a:prstGeom>
          <a:solidFill>
            <a:srgbClr val="222B26"/>
          </a:solidFill>
          <a:ln w="12700">
            <a:solidFill>
              <a:srgbClr val="222B26"/>
            </a:solidFill>
            <a:prstDash val="solid"/>
          </a:ln>
        </p:spPr>
      </p:sp>
      <p:sp>
        <p:nvSpPr>
          <p:cNvPr id="13" name="Shape 9"/>
          <p:cNvSpPr/>
          <p:nvPr/>
        </p:nvSpPr>
        <p:spPr>
          <a:xfrm>
            <a:off x="2194560" y="1060704"/>
            <a:ext cx="1828800" cy="64008"/>
          </a:xfrm>
          <a:prstGeom prst="rect">
            <a:avLst/>
          </a:prstGeom>
          <a:solidFill>
            <a:srgbClr val="AE8F5D"/>
          </a:solidFill>
          <a:ln w="12700">
            <a:solidFill>
              <a:srgbClr val="AE8F5D"/>
            </a:solidFill>
            <a:prstDash val="solid"/>
          </a:ln>
        </p:spPr>
      </p:sp>
      <p:sp>
        <p:nvSpPr>
          <p:cNvPr id="14" name="Text 10"/>
          <p:cNvSpPr/>
          <p:nvPr/>
        </p:nvSpPr>
        <p:spPr>
          <a:xfrm>
            <a:off x="2194560" y="1097280"/>
            <a:ext cx="1828800" cy="475488"/>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~6 Weeks</a:t>
            </a:r>
            <a:endParaRPr lang="en-US" sz="2400" dirty="0"/>
          </a:p>
        </p:txBody>
      </p:sp>
      <p:sp>
        <p:nvSpPr>
          <p:cNvPr id="15" name="Text 11"/>
          <p:cNvSpPr/>
          <p:nvPr/>
        </p:nvSpPr>
        <p:spPr>
          <a:xfrm>
            <a:off x="2194560" y="1572768"/>
            <a:ext cx="1828800" cy="365760"/>
          </a:xfrm>
          <a:prstGeom prst="rect">
            <a:avLst/>
          </a:prstGeom>
          <a:noFill/>
          <a:ln/>
        </p:spPr>
        <p:txBody>
          <a:bodyPr wrap="square" lIns="0" tIns="0" rIns="0" bIns="0" rtlCol="0" anchor="ctr"/>
          <a:lstStyle/>
          <a:p>
            <a:pPr marL="0" indent="0" algn="ctr">
              <a:buNone/>
            </a:pPr>
            <a:r>
              <a:rPr lang="en-US" sz="850" dirty="0">
                <a:solidFill>
                  <a:srgbClr val="FFFFFF"/>
                </a:solidFill>
                <a:latin typeface="Segoe UI" pitchFamily="34" charset="0"/>
                <a:ea typeface="Segoe UI" pitchFamily="34" charset="-122"/>
                <a:cs typeface="Segoe UI" pitchFamily="34" charset="-120"/>
              </a:rPr>
              <a:t>Calendar time to</a:t>
            </a:r>
            <a:endParaRPr lang="en-US" sz="850" dirty="0"/>
          </a:p>
          <a:p>
            <a:pPr marL="0" indent="0" algn="ctr">
              <a:buNone/>
            </a:pPr>
            <a:r>
              <a:rPr lang="en-US" sz="850" dirty="0">
                <a:solidFill>
                  <a:srgbClr val="FFFFFF"/>
                </a:solidFill>
                <a:latin typeface="Segoe UI" pitchFamily="34" charset="0"/>
                <a:ea typeface="Segoe UI" pitchFamily="34" charset="-122"/>
                <a:cs typeface="Segoe UI" pitchFamily="34" charset="-120"/>
              </a:rPr>
              <a:t>production-ready</a:t>
            </a:r>
            <a:endParaRPr lang="en-US" sz="850" dirty="0"/>
          </a:p>
        </p:txBody>
      </p:sp>
      <p:sp>
        <p:nvSpPr>
          <p:cNvPr id="16" name="Shape 12"/>
          <p:cNvSpPr/>
          <p:nvPr/>
        </p:nvSpPr>
        <p:spPr>
          <a:xfrm>
            <a:off x="4133088" y="1060704"/>
            <a:ext cx="1828800" cy="914400"/>
          </a:xfrm>
          <a:prstGeom prst="rect">
            <a:avLst/>
          </a:prstGeom>
          <a:solidFill>
            <a:srgbClr val="9F2C32"/>
          </a:solidFill>
          <a:ln w="12700">
            <a:solidFill>
              <a:srgbClr val="9F2C32"/>
            </a:solidFill>
            <a:prstDash val="solid"/>
          </a:ln>
        </p:spPr>
      </p:sp>
      <p:sp>
        <p:nvSpPr>
          <p:cNvPr id="17" name="Shape 13"/>
          <p:cNvSpPr/>
          <p:nvPr/>
        </p:nvSpPr>
        <p:spPr>
          <a:xfrm>
            <a:off x="4133088" y="1060704"/>
            <a:ext cx="1828800" cy="64008"/>
          </a:xfrm>
          <a:prstGeom prst="rect">
            <a:avLst/>
          </a:prstGeom>
          <a:solidFill>
            <a:srgbClr val="AE8F5D"/>
          </a:solidFill>
          <a:ln w="12700">
            <a:solidFill>
              <a:srgbClr val="AE8F5D"/>
            </a:solidFill>
            <a:prstDash val="solid"/>
          </a:ln>
        </p:spPr>
      </p:sp>
      <p:sp>
        <p:nvSpPr>
          <p:cNvPr id="18" name="Text 14"/>
          <p:cNvSpPr/>
          <p:nvPr/>
        </p:nvSpPr>
        <p:spPr>
          <a:xfrm>
            <a:off x="4133088" y="1097280"/>
            <a:ext cx="1828800" cy="475488"/>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a:t>
            </a:r>
            <a:endParaRPr lang="en-US" sz="2400" dirty="0"/>
          </a:p>
        </p:txBody>
      </p:sp>
      <p:sp>
        <p:nvSpPr>
          <p:cNvPr id="19" name="Text 15"/>
          <p:cNvSpPr/>
          <p:nvPr/>
        </p:nvSpPr>
        <p:spPr>
          <a:xfrm>
            <a:off x="4133088" y="1572768"/>
            <a:ext cx="1828800" cy="365760"/>
          </a:xfrm>
          <a:prstGeom prst="rect">
            <a:avLst/>
          </a:prstGeom>
          <a:noFill/>
          <a:ln/>
        </p:spPr>
        <p:txBody>
          <a:bodyPr wrap="square" lIns="0" tIns="0" rIns="0" bIns="0" rtlCol="0" anchor="ctr"/>
          <a:lstStyle/>
          <a:p>
            <a:pPr marL="0" indent="0" algn="ctr">
              <a:buNone/>
            </a:pPr>
            <a:r>
              <a:rPr lang="en-US" sz="850" dirty="0">
                <a:solidFill>
                  <a:srgbClr val="FFFFFF"/>
                </a:solidFill>
                <a:latin typeface="Segoe UI" pitchFamily="34" charset="0"/>
                <a:ea typeface="Segoe UI" pitchFamily="34" charset="-122"/>
                <a:cs typeface="Segoe UI" pitchFamily="34" charset="-120"/>
              </a:rPr>
              <a:t>Changes to existing</a:t>
            </a:r>
            <a:endParaRPr lang="en-US" sz="850" dirty="0"/>
          </a:p>
          <a:p>
            <a:pPr marL="0" indent="0" algn="ctr">
              <a:buNone/>
            </a:pPr>
            <a:r>
              <a:rPr lang="en-US" sz="850" dirty="0">
                <a:solidFill>
                  <a:srgbClr val="FFFFFF"/>
                </a:solidFill>
                <a:latin typeface="Segoe UI" pitchFamily="34" charset="0"/>
                <a:ea typeface="Segoe UI" pitchFamily="34" charset="-122"/>
                <a:cs typeface="Segoe UI" pitchFamily="34" charset="-120"/>
              </a:rPr>
              <a:t>Scout .NET code</a:t>
            </a:r>
            <a:endParaRPr lang="en-US" sz="850" dirty="0"/>
          </a:p>
        </p:txBody>
      </p:sp>
      <p:sp>
        <p:nvSpPr>
          <p:cNvPr id="20" name="Shape 16"/>
          <p:cNvSpPr/>
          <p:nvPr/>
        </p:nvSpPr>
        <p:spPr>
          <a:xfrm>
            <a:off x="6053328" y="1060704"/>
            <a:ext cx="2798064" cy="914400"/>
          </a:xfrm>
          <a:prstGeom prst="rect">
            <a:avLst/>
          </a:prstGeom>
          <a:solidFill>
            <a:srgbClr val="F2F0EE"/>
          </a:solidFill>
          <a:ln w="12700">
            <a:solidFill>
              <a:srgbClr val="F2F0EE"/>
            </a:solidFill>
            <a:prstDash val="solid"/>
          </a:ln>
        </p:spPr>
      </p:sp>
      <p:sp>
        <p:nvSpPr>
          <p:cNvPr id="21" name="Shape 17"/>
          <p:cNvSpPr/>
          <p:nvPr/>
        </p:nvSpPr>
        <p:spPr>
          <a:xfrm>
            <a:off x="6053328" y="1060704"/>
            <a:ext cx="64008" cy="914400"/>
          </a:xfrm>
          <a:prstGeom prst="rect">
            <a:avLst/>
          </a:prstGeom>
          <a:solidFill>
            <a:srgbClr val="679F7B"/>
          </a:solidFill>
          <a:ln w="12700">
            <a:solidFill>
              <a:srgbClr val="679F7B"/>
            </a:solidFill>
            <a:prstDash val="solid"/>
          </a:ln>
        </p:spPr>
      </p:sp>
      <p:sp>
        <p:nvSpPr>
          <p:cNvPr id="22" name="Text 18"/>
          <p:cNvSpPr/>
          <p:nvPr/>
        </p:nvSpPr>
        <p:spPr>
          <a:xfrm>
            <a:off x="6190488" y="1115568"/>
            <a:ext cx="2596896" cy="804672"/>
          </a:xfrm>
          <a:prstGeom prst="rect">
            <a:avLst/>
          </a:prstGeom>
          <a:noFill/>
          <a:ln/>
        </p:spPr>
        <p:txBody>
          <a:bodyPr wrap="square" lIns="0" tIns="0" rIns="0" bIns="0" rtlCol="0" anchor="ctr"/>
          <a:lstStyle/>
          <a:p>
            <a:pPr marL="0" indent="0">
              <a:lnSpc>
                <a:spcPct val="135000"/>
              </a:lnSpc>
              <a:buNone/>
            </a:pPr>
            <a:r>
              <a:rPr lang="en-US" sz="950" i="1" dirty="0">
                <a:solidFill>
                  <a:srgbClr val="222B26"/>
                </a:solidFill>
                <a:latin typeface="Segoe UI" pitchFamily="34" charset="0"/>
                <a:ea typeface="Segoe UI" pitchFamily="34" charset="-122"/>
                <a:cs typeface="Segoe UI" pitchFamily="34" charset="-120"/>
              </a:rPr>
              <a:t>Parallel streams mean ~6 weeks calendar time — not 223 hours end-to-end. AI agent, backend, and UI work simultaneously.</a:t>
            </a:r>
            <a:endParaRPr lang="en-US" sz="950" dirty="0"/>
          </a:p>
        </p:txBody>
      </p:sp>
      <p:sp>
        <p:nvSpPr>
          <p:cNvPr id="23" name="Shape 19"/>
          <p:cNvSpPr/>
          <p:nvPr/>
        </p:nvSpPr>
        <p:spPr>
          <a:xfrm>
            <a:off x="256032" y="2176272"/>
            <a:ext cx="2066544" cy="2395728"/>
          </a:xfrm>
          <a:prstGeom prst="rect">
            <a:avLst/>
          </a:prstGeom>
          <a:solidFill>
            <a:srgbClr val="F2F0EE"/>
          </a:solidFill>
          <a:ln w="19050">
            <a:solidFill>
              <a:srgbClr val="9F2C32"/>
            </a:solidFill>
            <a:prstDash val="solid"/>
          </a:ln>
        </p:spPr>
      </p:sp>
      <p:sp>
        <p:nvSpPr>
          <p:cNvPr id="24" name="Shape 20"/>
          <p:cNvSpPr/>
          <p:nvPr/>
        </p:nvSpPr>
        <p:spPr>
          <a:xfrm>
            <a:off x="256032" y="2176272"/>
            <a:ext cx="2066544" cy="310896"/>
          </a:xfrm>
          <a:prstGeom prst="rect">
            <a:avLst/>
          </a:prstGeom>
          <a:solidFill>
            <a:srgbClr val="9F2C32"/>
          </a:solidFill>
          <a:ln w="12700">
            <a:solidFill>
              <a:srgbClr val="9F2C32"/>
            </a:solidFill>
            <a:prstDash val="solid"/>
          </a:ln>
        </p:spPr>
      </p:sp>
      <p:sp>
        <p:nvSpPr>
          <p:cNvPr id="25" name="Text 21"/>
          <p:cNvSpPr/>
          <p:nvPr/>
        </p:nvSpPr>
        <p:spPr>
          <a:xfrm>
            <a:off x="347472" y="2221992"/>
            <a:ext cx="1883664" cy="219456"/>
          </a:xfrm>
          <a:prstGeom prst="rect">
            <a:avLst/>
          </a:prstGeom>
          <a:noFill/>
          <a:ln/>
        </p:spPr>
        <p:txBody>
          <a:bodyPr wrap="square" lIns="0" tIns="0" rIns="0" bIns="0" rtlCol="0" anchor="ctr"/>
          <a:lstStyle/>
          <a:p>
            <a:pPr marL="0" indent="0">
              <a:buNone/>
            </a:pPr>
            <a:r>
              <a:rPr lang="en-US" sz="800" b="1" kern="0" spc="50" dirty="0">
                <a:solidFill>
                  <a:srgbClr val="FFFFFF"/>
                </a:solidFill>
                <a:latin typeface="Segoe UI" pitchFamily="34" charset="0"/>
                <a:ea typeface="Segoe UI" pitchFamily="34" charset="-122"/>
                <a:cs typeface="Segoe UI" pitchFamily="34" charset="-120"/>
              </a:rPr>
              <a:t>Week 1</a:t>
            </a:r>
            <a:endParaRPr lang="en-US" sz="800" dirty="0"/>
          </a:p>
        </p:txBody>
      </p:sp>
      <p:sp>
        <p:nvSpPr>
          <p:cNvPr id="26" name="Text 22"/>
          <p:cNvSpPr/>
          <p:nvPr/>
        </p:nvSpPr>
        <p:spPr>
          <a:xfrm>
            <a:off x="347472" y="2560320"/>
            <a:ext cx="1883664" cy="475488"/>
          </a:xfrm>
          <a:prstGeom prst="rect">
            <a:avLst/>
          </a:prstGeom>
          <a:noFill/>
          <a:ln/>
        </p:spPr>
        <p:txBody>
          <a:bodyPr wrap="square" lIns="0" tIns="0" rIns="0" bIns="0" rtlCol="0" anchor="ctr"/>
          <a:lstStyle/>
          <a:p>
            <a:pPr marL="0" indent="0">
              <a:buNone/>
            </a:pPr>
            <a:r>
              <a:rPr lang="en-US" sz="1050" b="1" dirty="0">
                <a:solidFill>
                  <a:srgbClr val="222B26"/>
                </a:solidFill>
                <a:latin typeface="Segoe UI" pitchFamily="34" charset="0"/>
                <a:ea typeface="Segoe UI" pitchFamily="34" charset="-122"/>
                <a:cs typeface="Segoe UI" pitchFamily="34" charset="-120"/>
              </a:rPr>
              <a:t>Kickoff &amp;</a:t>
            </a:r>
            <a:endParaRPr lang="en-US" sz="1050" dirty="0"/>
          </a:p>
          <a:p>
            <a:pPr marL="0" indent="0">
              <a:buNone/>
            </a:pPr>
            <a:r>
              <a:rPr lang="en-US" sz="1050" b="1" dirty="0">
                <a:solidFill>
                  <a:srgbClr val="222B26"/>
                </a:solidFill>
                <a:latin typeface="Segoe UI" pitchFamily="34" charset="0"/>
                <a:ea typeface="Segoe UI" pitchFamily="34" charset="-122"/>
                <a:cs typeface="Segoe UI" pitchFamily="34" charset="-120"/>
              </a:rPr>
              <a:t>Data Mapping</a:t>
            </a:r>
            <a:endParaRPr lang="en-US" sz="1050" dirty="0"/>
          </a:p>
        </p:txBody>
      </p:sp>
      <p:sp>
        <p:nvSpPr>
          <p:cNvPr id="27" name="Shape 23"/>
          <p:cNvSpPr/>
          <p:nvPr/>
        </p:nvSpPr>
        <p:spPr>
          <a:xfrm>
            <a:off x="365760" y="3108960"/>
            <a:ext cx="82296" cy="82296"/>
          </a:xfrm>
          <a:prstGeom prst="ellipse">
            <a:avLst/>
          </a:prstGeom>
          <a:solidFill>
            <a:srgbClr val="9F2C32"/>
          </a:solidFill>
          <a:ln w="12700">
            <a:solidFill>
              <a:srgbClr val="9F2C32"/>
            </a:solidFill>
            <a:prstDash val="solid"/>
          </a:ln>
        </p:spPr>
      </p:sp>
      <p:sp>
        <p:nvSpPr>
          <p:cNvPr id="28" name="Text 24"/>
          <p:cNvSpPr/>
          <p:nvPr/>
        </p:nvSpPr>
        <p:spPr>
          <a:xfrm>
            <a:off x="502920" y="3072384"/>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Align with project team on letter sections</a:t>
            </a:r>
            <a:endParaRPr lang="en-US" sz="900" dirty="0"/>
          </a:p>
        </p:txBody>
      </p:sp>
      <p:sp>
        <p:nvSpPr>
          <p:cNvPr id="29" name="Shape 25"/>
          <p:cNvSpPr/>
          <p:nvPr/>
        </p:nvSpPr>
        <p:spPr>
          <a:xfrm>
            <a:off x="365760" y="3584448"/>
            <a:ext cx="82296" cy="82296"/>
          </a:xfrm>
          <a:prstGeom prst="ellipse">
            <a:avLst/>
          </a:prstGeom>
          <a:solidFill>
            <a:srgbClr val="9F2C32"/>
          </a:solidFill>
          <a:ln w="12700">
            <a:solidFill>
              <a:srgbClr val="9F2C32"/>
            </a:solidFill>
            <a:prstDash val="solid"/>
          </a:ln>
        </p:spPr>
      </p:sp>
      <p:sp>
        <p:nvSpPr>
          <p:cNvPr id="30" name="Text 26"/>
          <p:cNvSpPr/>
          <p:nvPr/>
        </p:nvSpPr>
        <p:spPr>
          <a:xfrm>
            <a:off x="502920" y="3547872"/>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Map Scout DB to letter data requirements</a:t>
            </a:r>
            <a:endParaRPr lang="en-US" sz="900" dirty="0"/>
          </a:p>
        </p:txBody>
      </p:sp>
      <p:sp>
        <p:nvSpPr>
          <p:cNvPr id="31" name="Shape 27"/>
          <p:cNvSpPr/>
          <p:nvPr/>
        </p:nvSpPr>
        <p:spPr>
          <a:xfrm>
            <a:off x="365760" y="4059936"/>
            <a:ext cx="82296" cy="82296"/>
          </a:xfrm>
          <a:prstGeom prst="ellipse">
            <a:avLst/>
          </a:prstGeom>
          <a:solidFill>
            <a:srgbClr val="9F2C32"/>
          </a:solidFill>
          <a:ln w="12700">
            <a:solidFill>
              <a:srgbClr val="9F2C32"/>
            </a:solidFill>
            <a:prstDash val="solid"/>
          </a:ln>
        </p:spPr>
      </p:sp>
      <p:sp>
        <p:nvSpPr>
          <p:cNvPr id="32" name="Text 28"/>
          <p:cNvSpPr/>
          <p:nvPr/>
        </p:nvSpPr>
        <p:spPr>
          <a:xfrm>
            <a:off x="502920" y="4023360"/>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Define schema for supplemental tables</a:t>
            </a:r>
            <a:endParaRPr lang="en-US" sz="900" dirty="0"/>
          </a:p>
        </p:txBody>
      </p:sp>
      <p:sp>
        <p:nvSpPr>
          <p:cNvPr id="33" name="Shape 29"/>
          <p:cNvSpPr/>
          <p:nvPr/>
        </p:nvSpPr>
        <p:spPr>
          <a:xfrm>
            <a:off x="2331720" y="3273552"/>
            <a:ext cx="192024" cy="201168"/>
          </a:xfrm>
          <a:prstGeom prst="rect">
            <a:avLst/>
          </a:prstGeom>
          <a:solidFill>
            <a:srgbClr val="AE8F5D"/>
          </a:solidFill>
          <a:ln w="12700">
            <a:solidFill>
              <a:srgbClr val="AE8F5D"/>
            </a:solidFill>
            <a:prstDash val="solid"/>
          </a:ln>
        </p:spPr>
      </p:sp>
      <p:sp>
        <p:nvSpPr>
          <p:cNvPr id="34" name="Text 30"/>
          <p:cNvSpPr/>
          <p:nvPr/>
        </p:nvSpPr>
        <p:spPr>
          <a:xfrm>
            <a:off x="2331720" y="3255264"/>
            <a:ext cx="192024" cy="237744"/>
          </a:xfrm>
          <a:prstGeom prst="rect">
            <a:avLst/>
          </a:prstGeom>
          <a:noFill/>
          <a:ln/>
        </p:spPr>
        <p:txBody>
          <a:bodyPr wrap="square" lIns="0" tIns="0" rIns="0" bIns="0" rtlCol="0" anchor="ctr"/>
          <a:lstStyle/>
          <a:p>
            <a:pPr marL="0" indent="0" algn="ctr">
              <a:buNone/>
            </a:pPr>
            <a:r>
              <a:rPr lang="en-US" sz="700" dirty="0">
                <a:solidFill>
                  <a:srgbClr val="FFFFFF"/>
                </a:solidFill>
                <a:latin typeface="Segoe UI" pitchFamily="34" charset="0"/>
                <a:ea typeface="Segoe UI" pitchFamily="34" charset="-122"/>
                <a:cs typeface="Segoe UI" pitchFamily="34" charset="-120"/>
              </a:rPr>
              <a:t>▶</a:t>
            </a:r>
            <a:endParaRPr lang="en-US" sz="700" dirty="0"/>
          </a:p>
        </p:txBody>
      </p:sp>
      <p:sp>
        <p:nvSpPr>
          <p:cNvPr id="35" name="Shape 31"/>
          <p:cNvSpPr/>
          <p:nvPr/>
        </p:nvSpPr>
        <p:spPr>
          <a:xfrm>
            <a:off x="2423160" y="2176272"/>
            <a:ext cx="2066544" cy="2395728"/>
          </a:xfrm>
          <a:prstGeom prst="rect">
            <a:avLst/>
          </a:prstGeom>
          <a:solidFill>
            <a:srgbClr val="F2F0EE"/>
          </a:solidFill>
          <a:ln w="19050">
            <a:solidFill>
              <a:srgbClr val="222B26"/>
            </a:solidFill>
            <a:prstDash val="solid"/>
          </a:ln>
        </p:spPr>
      </p:sp>
      <p:sp>
        <p:nvSpPr>
          <p:cNvPr id="36" name="Shape 32"/>
          <p:cNvSpPr/>
          <p:nvPr/>
        </p:nvSpPr>
        <p:spPr>
          <a:xfrm>
            <a:off x="2423160" y="2176272"/>
            <a:ext cx="2066544" cy="310896"/>
          </a:xfrm>
          <a:prstGeom prst="rect">
            <a:avLst/>
          </a:prstGeom>
          <a:solidFill>
            <a:srgbClr val="222B26"/>
          </a:solidFill>
          <a:ln w="12700">
            <a:solidFill>
              <a:srgbClr val="222B26"/>
            </a:solidFill>
            <a:prstDash val="solid"/>
          </a:ln>
        </p:spPr>
      </p:sp>
      <p:sp>
        <p:nvSpPr>
          <p:cNvPr id="37" name="Text 33"/>
          <p:cNvSpPr/>
          <p:nvPr/>
        </p:nvSpPr>
        <p:spPr>
          <a:xfrm>
            <a:off x="2514600" y="2221992"/>
            <a:ext cx="1883664" cy="219456"/>
          </a:xfrm>
          <a:prstGeom prst="rect">
            <a:avLst/>
          </a:prstGeom>
          <a:noFill/>
          <a:ln/>
        </p:spPr>
        <p:txBody>
          <a:bodyPr wrap="square" lIns="0" tIns="0" rIns="0" bIns="0" rtlCol="0" anchor="ctr"/>
          <a:lstStyle/>
          <a:p>
            <a:pPr marL="0" indent="0">
              <a:buNone/>
            </a:pPr>
            <a:r>
              <a:rPr lang="en-US" sz="800" b="1" kern="0" spc="50" dirty="0">
                <a:solidFill>
                  <a:srgbClr val="FFFFFF"/>
                </a:solidFill>
                <a:latin typeface="Segoe UI" pitchFamily="34" charset="0"/>
                <a:ea typeface="Segoe UI" pitchFamily="34" charset="-122"/>
                <a:cs typeface="Segoe UI" pitchFamily="34" charset="-120"/>
              </a:rPr>
              <a:t>Wk 2–3</a:t>
            </a:r>
            <a:endParaRPr lang="en-US" sz="800" dirty="0"/>
          </a:p>
        </p:txBody>
      </p:sp>
      <p:sp>
        <p:nvSpPr>
          <p:cNvPr id="38" name="Text 34"/>
          <p:cNvSpPr/>
          <p:nvPr/>
        </p:nvSpPr>
        <p:spPr>
          <a:xfrm>
            <a:off x="2514600" y="2560320"/>
            <a:ext cx="1883664" cy="475488"/>
          </a:xfrm>
          <a:prstGeom prst="rect">
            <a:avLst/>
          </a:prstGeom>
          <a:noFill/>
          <a:ln/>
        </p:spPr>
        <p:txBody>
          <a:bodyPr wrap="square" lIns="0" tIns="0" rIns="0" bIns="0" rtlCol="0" anchor="ctr"/>
          <a:lstStyle/>
          <a:p>
            <a:pPr marL="0" indent="0">
              <a:buNone/>
            </a:pPr>
            <a:r>
              <a:rPr lang="en-US" sz="1050" b="1" dirty="0">
                <a:solidFill>
                  <a:srgbClr val="222B26"/>
                </a:solidFill>
                <a:latin typeface="Segoe UI" pitchFamily="34" charset="0"/>
                <a:ea typeface="Segoe UI" pitchFamily="34" charset="-122"/>
                <a:cs typeface="Segoe UI" pitchFamily="34" charset="-120"/>
              </a:rPr>
              <a:t>Parallel</a:t>
            </a:r>
            <a:endParaRPr lang="en-US" sz="1050" dirty="0"/>
          </a:p>
          <a:p>
            <a:pPr marL="0" indent="0">
              <a:buNone/>
            </a:pPr>
            <a:r>
              <a:rPr lang="en-US" sz="1050" b="1" dirty="0">
                <a:solidFill>
                  <a:srgbClr val="222B26"/>
                </a:solidFill>
                <a:latin typeface="Segoe UI" pitchFamily="34" charset="0"/>
                <a:ea typeface="Segoe UI" pitchFamily="34" charset="-122"/>
                <a:cs typeface="Segoe UI" pitchFamily="34" charset="-120"/>
              </a:rPr>
              <a:t>Build</a:t>
            </a:r>
            <a:endParaRPr lang="en-US" sz="1050" dirty="0"/>
          </a:p>
        </p:txBody>
      </p:sp>
      <p:sp>
        <p:nvSpPr>
          <p:cNvPr id="39" name="Shape 35"/>
          <p:cNvSpPr/>
          <p:nvPr/>
        </p:nvSpPr>
        <p:spPr>
          <a:xfrm>
            <a:off x="2532888" y="3108960"/>
            <a:ext cx="82296" cy="82296"/>
          </a:xfrm>
          <a:prstGeom prst="ellipse">
            <a:avLst/>
          </a:prstGeom>
          <a:solidFill>
            <a:srgbClr val="222B26"/>
          </a:solidFill>
          <a:ln w="12700">
            <a:solidFill>
              <a:srgbClr val="222B26"/>
            </a:solidFill>
            <a:prstDash val="solid"/>
          </a:ln>
        </p:spPr>
      </p:sp>
      <p:sp>
        <p:nvSpPr>
          <p:cNvPr id="40" name="Text 36"/>
          <p:cNvSpPr/>
          <p:nvPr/>
        </p:nvSpPr>
        <p:spPr>
          <a:xfrm>
            <a:off x="2670048" y="3072384"/>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AI generation pipeline — Scout → Claude → draft</a:t>
            </a:r>
            <a:endParaRPr lang="en-US" sz="900" dirty="0"/>
          </a:p>
        </p:txBody>
      </p:sp>
      <p:sp>
        <p:nvSpPr>
          <p:cNvPr id="41" name="Shape 37"/>
          <p:cNvSpPr/>
          <p:nvPr/>
        </p:nvSpPr>
        <p:spPr>
          <a:xfrm>
            <a:off x="2532888" y="3584448"/>
            <a:ext cx="82296" cy="82296"/>
          </a:xfrm>
          <a:prstGeom prst="ellipse">
            <a:avLst/>
          </a:prstGeom>
          <a:solidFill>
            <a:srgbClr val="222B26"/>
          </a:solidFill>
          <a:ln w="12700">
            <a:solidFill>
              <a:srgbClr val="222B26"/>
            </a:solidFill>
            <a:prstDash val="solid"/>
          </a:ln>
        </p:spPr>
      </p:sp>
      <p:sp>
        <p:nvSpPr>
          <p:cNvPr id="42" name="Text 38"/>
          <p:cNvSpPr/>
          <p:nvPr/>
        </p:nvSpPr>
        <p:spPr>
          <a:xfrm>
            <a:off x="2670048" y="3547872"/>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New DB tables + Azure Functions service</a:t>
            </a:r>
            <a:endParaRPr lang="en-US" sz="900" dirty="0"/>
          </a:p>
        </p:txBody>
      </p:sp>
      <p:sp>
        <p:nvSpPr>
          <p:cNvPr id="43" name="Shape 39"/>
          <p:cNvSpPr/>
          <p:nvPr/>
        </p:nvSpPr>
        <p:spPr>
          <a:xfrm>
            <a:off x="2532888" y="4059936"/>
            <a:ext cx="82296" cy="82296"/>
          </a:xfrm>
          <a:prstGeom prst="ellipse">
            <a:avLst/>
          </a:prstGeom>
          <a:solidFill>
            <a:srgbClr val="222B26"/>
          </a:solidFill>
          <a:ln w="12700">
            <a:solidFill>
              <a:srgbClr val="222B26"/>
            </a:solidFill>
            <a:prstDash val="solid"/>
          </a:ln>
        </p:spPr>
      </p:sp>
      <p:sp>
        <p:nvSpPr>
          <p:cNvPr id="44" name="Text 40"/>
          <p:cNvSpPr/>
          <p:nvPr/>
        </p:nvSpPr>
        <p:spPr>
          <a:xfrm>
            <a:off x="2670048" y="4023360"/>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Dashboard UI + letter editor shell</a:t>
            </a:r>
            <a:endParaRPr lang="en-US" sz="900" dirty="0"/>
          </a:p>
        </p:txBody>
      </p:sp>
      <p:sp>
        <p:nvSpPr>
          <p:cNvPr id="45" name="Shape 41"/>
          <p:cNvSpPr/>
          <p:nvPr/>
        </p:nvSpPr>
        <p:spPr>
          <a:xfrm>
            <a:off x="4498848" y="3273552"/>
            <a:ext cx="192024" cy="201168"/>
          </a:xfrm>
          <a:prstGeom prst="rect">
            <a:avLst/>
          </a:prstGeom>
          <a:solidFill>
            <a:srgbClr val="AE8F5D"/>
          </a:solidFill>
          <a:ln w="12700">
            <a:solidFill>
              <a:srgbClr val="AE8F5D"/>
            </a:solidFill>
            <a:prstDash val="solid"/>
          </a:ln>
        </p:spPr>
      </p:sp>
      <p:sp>
        <p:nvSpPr>
          <p:cNvPr id="46" name="Text 42"/>
          <p:cNvSpPr/>
          <p:nvPr/>
        </p:nvSpPr>
        <p:spPr>
          <a:xfrm>
            <a:off x="4498848" y="3255264"/>
            <a:ext cx="192024" cy="237744"/>
          </a:xfrm>
          <a:prstGeom prst="rect">
            <a:avLst/>
          </a:prstGeom>
          <a:noFill/>
          <a:ln/>
        </p:spPr>
        <p:txBody>
          <a:bodyPr wrap="square" lIns="0" tIns="0" rIns="0" bIns="0" rtlCol="0" anchor="ctr"/>
          <a:lstStyle/>
          <a:p>
            <a:pPr marL="0" indent="0" algn="ctr">
              <a:buNone/>
            </a:pPr>
            <a:r>
              <a:rPr lang="en-US" sz="700" dirty="0">
                <a:solidFill>
                  <a:srgbClr val="FFFFFF"/>
                </a:solidFill>
                <a:latin typeface="Segoe UI" pitchFamily="34" charset="0"/>
                <a:ea typeface="Segoe UI" pitchFamily="34" charset="-122"/>
                <a:cs typeface="Segoe UI" pitchFamily="34" charset="-120"/>
              </a:rPr>
              <a:t>▶</a:t>
            </a:r>
            <a:endParaRPr lang="en-US" sz="700" dirty="0"/>
          </a:p>
        </p:txBody>
      </p:sp>
      <p:sp>
        <p:nvSpPr>
          <p:cNvPr id="47" name="Shape 43"/>
          <p:cNvSpPr/>
          <p:nvPr/>
        </p:nvSpPr>
        <p:spPr>
          <a:xfrm>
            <a:off x="4590288" y="2176272"/>
            <a:ext cx="2066544" cy="2395728"/>
          </a:xfrm>
          <a:prstGeom prst="rect">
            <a:avLst/>
          </a:prstGeom>
          <a:solidFill>
            <a:srgbClr val="F2F0EE"/>
          </a:solidFill>
          <a:ln w="19050">
            <a:solidFill>
              <a:srgbClr val="679F7B"/>
            </a:solidFill>
            <a:prstDash val="solid"/>
          </a:ln>
        </p:spPr>
      </p:sp>
      <p:sp>
        <p:nvSpPr>
          <p:cNvPr id="48" name="Shape 44"/>
          <p:cNvSpPr/>
          <p:nvPr/>
        </p:nvSpPr>
        <p:spPr>
          <a:xfrm>
            <a:off x="4590288" y="2176272"/>
            <a:ext cx="2066544" cy="310896"/>
          </a:xfrm>
          <a:prstGeom prst="rect">
            <a:avLst/>
          </a:prstGeom>
          <a:solidFill>
            <a:srgbClr val="679F7B"/>
          </a:solidFill>
          <a:ln w="12700">
            <a:solidFill>
              <a:srgbClr val="679F7B"/>
            </a:solidFill>
            <a:prstDash val="solid"/>
          </a:ln>
        </p:spPr>
      </p:sp>
      <p:sp>
        <p:nvSpPr>
          <p:cNvPr id="49" name="Text 45"/>
          <p:cNvSpPr/>
          <p:nvPr/>
        </p:nvSpPr>
        <p:spPr>
          <a:xfrm>
            <a:off x="4681728" y="2221992"/>
            <a:ext cx="1883664" cy="219456"/>
          </a:xfrm>
          <a:prstGeom prst="rect">
            <a:avLst/>
          </a:prstGeom>
          <a:noFill/>
          <a:ln/>
        </p:spPr>
        <p:txBody>
          <a:bodyPr wrap="square" lIns="0" tIns="0" rIns="0" bIns="0" rtlCol="0" anchor="ctr"/>
          <a:lstStyle/>
          <a:p>
            <a:pPr marL="0" indent="0">
              <a:buNone/>
            </a:pPr>
            <a:r>
              <a:rPr lang="en-US" sz="800" b="1" kern="0" spc="50" dirty="0">
                <a:solidFill>
                  <a:srgbClr val="FFFFFF"/>
                </a:solidFill>
                <a:latin typeface="Segoe UI" pitchFamily="34" charset="0"/>
                <a:ea typeface="Segoe UI" pitchFamily="34" charset="-122"/>
                <a:cs typeface="Segoe UI" pitchFamily="34" charset="-120"/>
              </a:rPr>
              <a:t>Wk 4–5</a:t>
            </a:r>
            <a:endParaRPr lang="en-US" sz="800" dirty="0"/>
          </a:p>
        </p:txBody>
      </p:sp>
      <p:sp>
        <p:nvSpPr>
          <p:cNvPr id="50" name="Text 46"/>
          <p:cNvSpPr/>
          <p:nvPr/>
        </p:nvSpPr>
        <p:spPr>
          <a:xfrm>
            <a:off x="4681728" y="2560320"/>
            <a:ext cx="1883664" cy="475488"/>
          </a:xfrm>
          <a:prstGeom prst="rect">
            <a:avLst/>
          </a:prstGeom>
          <a:noFill/>
          <a:ln/>
        </p:spPr>
        <p:txBody>
          <a:bodyPr wrap="square" lIns="0" tIns="0" rIns="0" bIns="0" rtlCol="0" anchor="ctr"/>
          <a:lstStyle/>
          <a:p>
            <a:pPr marL="0" indent="0">
              <a:buNone/>
            </a:pPr>
            <a:r>
              <a:rPr lang="en-US" sz="1050" b="1" dirty="0">
                <a:solidFill>
                  <a:srgbClr val="222B26"/>
                </a:solidFill>
                <a:latin typeface="Segoe UI" pitchFamily="34" charset="0"/>
                <a:ea typeface="Segoe UI" pitchFamily="34" charset="-122"/>
                <a:cs typeface="Segoe UI" pitchFamily="34" charset="-120"/>
              </a:rPr>
              <a:t>Integration</a:t>
            </a:r>
            <a:endParaRPr lang="en-US" sz="1050" dirty="0"/>
          </a:p>
          <a:p>
            <a:pPr marL="0" indent="0">
              <a:buNone/>
            </a:pPr>
            <a:r>
              <a:rPr lang="en-US" sz="1050" b="1" dirty="0">
                <a:solidFill>
                  <a:srgbClr val="222B26"/>
                </a:solidFill>
                <a:latin typeface="Segoe UI" pitchFamily="34" charset="0"/>
                <a:ea typeface="Segoe UI" pitchFamily="34" charset="-122"/>
                <a:cs typeface="Segoe UI" pitchFamily="34" charset="-120"/>
              </a:rPr>
              <a:t>&amp; Refinement</a:t>
            </a:r>
            <a:endParaRPr lang="en-US" sz="1050" dirty="0"/>
          </a:p>
        </p:txBody>
      </p:sp>
      <p:sp>
        <p:nvSpPr>
          <p:cNvPr id="51" name="Shape 47"/>
          <p:cNvSpPr/>
          <p:nvPr/>
        </p:nvSpPr>
        <p:spPr>
          <a:xfrm>
            <a:off x="4700016" y="3108960"/>
            <a:ext cx="82296" cy="82296"/>
          </a:xfrm>
          <a:prstGeom prst="ellipse">
            <a:avLst/>
          </a:prstGeom>
          <a:solidFill>
            <a:srgbClr val="679F7B"/>
          </a:solidFill>
          <a:ln w="12700">
            <a:solidFill>
              <a:srgbClr val="679F7B"/>
            </a:solidFill>
            <a:prstDash val="solid"/>
          </a:ln>
        </p:spPr>
      </p:sp>
      <p:sp>
        <p:nvSpPr>
          <p:cNvPr id="52" name="Text 48"/>
          <p:cNvSpPr/>
          <p:nvPr/>
        </p:nvSpPr>
        <p:spPr>
          <a:xfrm>
            <a:off x="4837176" y="3072384"/>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Connect AI agent to live Scout data</a:t>
            </a:r>
            <a:endParaRPr lang="en-US" sz="900" dirty="0"/>
          </a:p>
        </p:txBody>
      </p:sp>
      <p:sp>
        <p:nvSpPr>
          <p:cNvPr id="53" name="Shape 49"/>
          <p:cNvSpPr/>
          <p:nvPr/>
        </p:nvSpPr>
        <p:spPr>
          <a:xfrm>
            <a:off x="4700016" y="3584448"/>
            <a:ext cx="82296" cy="82296"/>
          </a:xfrm>
          <a:prstGeom prst="ellipse">
            <a:avLst/>
          </a:prstGeom>
          <a:solidFill>
            <a:srgbClr val="679F7B"/>
          </a:solidFill>
          <a:ln w="12700">
            <a:solidFill>
              <a:srgbClr val="679F7B"/>
            </a:solidFill>
            <a:prstDash val="solid"/>
          </a:ln>
        </p:spPr>
      </p:sp>
      <p:sp>
        <p:nvSpPr>
          <p:cNvPr id="54" name="Text 50"/>
          <p:cNvSpPr/>
          <p:nvPr/>
        </p:nvSpPr>
        <p:spPr>
          <a:xfrm>
            <a:off x="4837176" y="3547872"/>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Inline AI assistant + editor integration</a:t>
            </a:r>
            <a:endParaRPr lang="en-US" sz="900" dirty="0"/>
          </a:p>
        </p:txBody>
      </p:sp>
      <p:sp>
        <p:nvSpPr>
          <p:cNvPr id="55" name="Shape 51"/>
          <p:cNvSpPr/>
          <p:nvPr/>
        </p:nvSpPr>
        <p:spPr>
          <a:xfrm>
            <a:off x="4700016" y="4059936"/>
            <a:ext cx="82296" cy="82296"/>
          </a:xfrm>
          <a:prstGeom prst="ellipse">
            <a:avLst/>
          </a:prstGeom>
          <a:solidFill>
            <a:srgbClr val="679F7B"/>
          </a:solidFill>
          <a:ln w="12700">
            <a:solidFill>
              <a:srgbClr val="679F7B"/>
            </a:solidFill>
            <a:prstDash val="solid"/>
          </a:ln>
        </p:spPr>
      </p:sp>
      <p:sp>
        <p:nvSpPr>
          <p:cNvPr id="56" name="Text 52"/>
          <p:cNvSpPr/>
          <p:nvPr/>
        </p:nvSpPr>
        <p:spPr>
          <a:xfrm>
            <a:off x="4837176" y="4023360"/>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Data gap detection UI + guided resolution</a:t>
            </a:r>
            <a:endParaRPr lang="en-US" sz="900" dirty="0"/>
          </a:p>
        </p:txBody>
      </p:sp>
      <p:sp>
        <p:nvSpPr>
          <p:cNvPr id="57" name="Shape 53"/>
          <p:cNvSpPr/>
          <p:nvPr/>
        </p:nvSpPr>
        <p:spPr>
          <a:xfrm>
            <a:off x="6665976" y="3273552"/>
            <a:ext cx="192024" cy="201168"/>
          </a:xfrm>
          <a:prstGeom prst="rect">
            <a:avLst/>
          </a:prstGeom>
          <a:solidFill>
            <a:srgbClr val="AE8F5D"/>
          </a:solidFill>
          <a:ln w="12700">
            <a:solidFill>
              <a:srgbClr val="AE8F5D"/>
            </a:solidFill>
            <a:prstDash val="solid"/>
          </a:ln>
        </p:spPr>
      </p:sp>
      <p:sp>
        <p:nvSpPr>
          <p:cNvPr id="58" name="Text 54"/>
          <p:cNvSpPr/>
          <p:nvPr/>
        </p:nvSpPr>
        <p:spPr>
          <a:xfrm>
            <a:off x="6665976" y="3255264"/>
            <a:ext cx="192024" cy="237744"/>
          </a:xfrm>
          <a:prstGeom prst="rect">
            <a:avLst/>
          </a:prstGeom>
          <a:noFill/>
          <a:ln/>
        </p:spPr>
        <p:txBody>
          <a:bodyPr wrap="square" lIns="0" tIns="0" rIns="0" bIns="0" rtlCol="0" anchor="ctr"/>
          <a:lstStyle/>
          <a:p>
            <a:pPr marL="0" indent="0" algn="ctr">
              <a:buNone/>
            </a:pPr>
            <a:r>
              <a:rPr lang="en-US" sz="700" dirty="0">
                <a:solidFill>
                  <a:srgbClr val="FFFFFF"/>
                </a:solidFill>
                <a:latin typeface="Segoe UI" pitchFamily="34" charset="0"/>
                <a:ea typeface="Segoe UI" pitchFamily="34" charset="-122"/>
                <a:cs typeface="Segoe UI" pitchFamily="34" charset="-120"/>
              </a:rPr>
              <a:t>▶</a:t>
            </a:r>
            <a:endParaRPr lang="en-US" sz="700" dirty="0"/>
          </a:p>
        </p:txBody>
      </p:sp>
      <p:sp>
        <p:nvSpPr>
          <p:cNvPr id="59" name="Shape 55"/>
          <p:cNvSpPr/>
          <p:nvPr/>
        </p:nvSpPr>
        <p:spPr>
          <a:xfrm>
            <a:off x="6757416" y="2176272"/>
            <a:ext cx="2066544" cy="2395728"/>
          </a:xfrm>
          <a:prstGeom prst="rect">
            <a:avLst/>
          </a:prstGeom>
          <a:solidFill>
            <a:srgbClr val="F2F0EE"/>
          </a:solidFill>
          <a:ln w="19050">
            <a:solidFill>
              <a:srgbClr val="5A8A6A"/>
            </a:solidFill>
            <a:prstDash val="solid"/>
          </a:ln>
        </p:spPr>
      </p:sp>
      <p:sp>
        <p:nvSpPr>
          <p:cNvPr id="60" name="Shape 56"/>
          <p:cNvSpPr/>
          <p:nvPr/>
        </p:nvSpPr>
        <p:spPr>
          <a:xfrm>
            <a:off x="6757416" y="2176272"/>
            <a:ext cx="2066544" cy="310896"/>
          </a:xfrm>
          <a:prstGeom prst="rect">
            <a:avLst/>
          </a:prstGeom>
          <a:solidFill>
            <a:srgbClr val="5A8A6A"/>
          </a:solidFill>
          <a:ln w="12700">
            <a:solidFill>
              <a:srgbClr val="5A8A6A"/>
            </a:solidFill>
            <a:prstDash val="solid"/>
          </a:ln>
        </p:spPr>
      </p:sp>
      <p:sp>
        <p:nvSpPr>
          <p:cNvPr id="61" name="Text 57"/>
          <p:cNvSpPr/>
          <p:nvPr/>
        </p:nvSpPr>
        <p:spPr>
          <a:xfrm>
            <a:off x="6848856" y="2221992"/>
            <a:ext cx="1883664" cy="219456"/>
          </a:xfrm>
          <a:prstGeom prst="rect">
            <a:avLst/>
          </a:prstGeom>
          <a:noFill/>
          <a:ln/>
        </p:spPr>
        <p:txBody>
          <a:bodyPr wrap="square" lIns="0" tIns="0" rIns="0" bIns="0" rtlCol="0" anchor="ctr"/>
          <a:lstStyle/>
          <a:p>
            <a:pPr marL="0" indent="0">
              <a:buNone/>
            </a:pPr>
            <a:r>
              <a:rPr lang="en-US" sz="800" b="1" kern="0" spc="50" dirty="0">
                <a:solidFill>
                  <a:srgbClr val="FFFFFF"/>
                </a:solidFill>
                <a:latin typeface="Segoe UI" pitchFamily="34" charset="0"/>
                <a:ea typeface="Segoe UI" pitchFamily="34" charset="-122"/>
                <a:cs typeface="Segoe UI" pitchFamily="34" charset="-120"/>
              </a:rPr>
              <a:t>Week 6</a:t>
            </a:r>
            <a:endParaRPr lang="en-US" sz="800" dirty="0"/>
          </a:p>
        </p:txBody>
      </p:sp>
      <p:sp>
        <p:nvSpPr>
          <p:cNvPr id="62" name="Text 58"/>
          <p:cNvSpPr/>
          <p:nvPr/>
        </p:nvSpPr>
        <p:spPr>
          <a:xfrm>
            <a:off x="6848856" y="2560320"/>
            <a:ext cx="1883664" cy="475488"/>
          </a:xfrm>
          <a:prstGeom prst="rect">
            <a:avLst/>
          </a:prstGeom>
          <a:noFill/>
          <a:ln/>
        </p:spPr>
        <p:txBody>
          <a:bodyPr wrap="square" lIns="0" tIns="0" rIns="0" bIns="0" rtlCol="0" anchor="ctr"/>
          <a:lstStyle/>
          <a:p>
            <a:pPr marL="0" indent="0">
              <a:buNone/>
            </a:pPr>
            <a:r>
              <a:rPr lang="en-US" sz="1050" b="1" dirty="0">
                <a:solidFill>
                  <a:srgbClr val="222B26"/>
                </a:solidFill>
                <a:latin typeface="Segoe UI" pitchFamily="34" charset="0"/>
                <a:ea typeface="Segoe UI" pitchFamily="34" charset="-122"/>
                <a:cs typeface="Segoe UI" pitchFamily="34" charset="-120"/>
              </a:rPr>
              <a:t>QA &amp;</a:t>
            </a:r>
            <a:endParaRPr lang="en-US" sz="1050" dirty="0"/>
          </a:p>
          <a:p>
            <a:pPr marL="0" indent="0">
              <a:buNone/>
            </a:pPr>
            <a:r>
              <a:rPr lang="en-US" sz="1050" b="1" dirty="0">
                <a:solidFill>
                  <a:srgbClr val="222B26"/>
                </a:solidFill>
                <a:latin typeface="Segoe UI" pitchFamily="34" charset="0"/>
                <a:ea typeface="Segoe UI" pitchFamily="34" charset="-122"/>
                <a:cs typeface="Segoe UI" pitchFamily="34" charset="-120"/>
              </a:rPr>
              <a:t>Launch</a:t>
            </a:r>
            <a:endParaRPr lang="en-US" sz="1050" dirty="0"/>
          </a:p>
        </p:txBody>
      </p:sp>
      <p:sp>
        <p:nvSpPr>
          <p:cNvPr id="63" name="Shape 59"/>
          <p:cNvSpPr/>
          <p:nvPr/>
        </p:nvSpPr>
        <p:spPr>
          <a:xfrm>
            <a:off x="6867144" y="3108960"/>
            <a:ext cx="82296" cy="82296"/>
          </a:xfrm>
          <a:prstGeom prst="ellipse">
            <a:avLst/>
          </a:prstGeom>
          <a:solidFill>
            <a:srgbClr val="5A8A6A"/>
          </a:solidFill>
          <a:ln w="12700">
            <a:solidFill>
              <a:srgbClr val="5A8A6A"/>
            </a:solidFill>
            <a:prstDash val="solid"/>
          </a:ln>
        </p:spPr>
      </p:sp>
      <p:sp>
        <p:nvSpPr>
          <p:cNvPr id="64" name="Text 60"/>
          <p:cNvSpPr/>
          <p:nvPr/>
        </p:nvSpPr>
        <p:spPr>
          <a:xfrm>
            <a:off x="7004304" y="3072384"/>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End-to-end testing across communities</a:t>
            </a:r>
            <a:endParaRPr lang="en-US" sz="900" dirty="0"/>
          </a:p>
        </p:txBody>
      </p:sp>
      <p:sp>
        <p:nvSpPr>
          <p:cNvPr id="65" name="Shape 61"/>
          <p:cNvSpPr/>
          <p:nvPr/>
        </p:nvSpPr>
        <p:spPr>
          <a:xfrm>
            <a:off x="6867144" y="3584448"/>
            <a:ext cx="82296" cy="82296"/>
          </a:xfrm>
          <a:prstGeom prst="ellipse">
            <a:avLst/>
          </a:prstGeom>
          <a:solidFill>
            <a:srgbClr val="5A8A6A"/>
          </a:solidFill>
          <a:ln w="12700">
            <a:solidFill>
              <a:srgbClr val="5A8A6A"/>
            </a:solidFill>
            <a:prstDash val="solid"/>
          </a:ln>
        </p:spPr>
      </p:sp>
      <p:sp>
        <p:nvSpPr>
          <p:cNvPr id="66" name="Text 62"/>
          <p:cNvSpPr/>
          <p:nvPr/>
        </p:nvSpPr>
        <p:spPr>
          <a:xfrm>
            <a:off x="7004304" y="3547872"/>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UAT with Beazer team</a:t>
            </a:r>
            <a:endParaRPr lang="en-US" sz="900" dirty="0"/>
          </a:p>
        </p:txBody>
      </p:sp>
      <p:sp>
        <p:nvSpPr>
          <p:cNvPr id="67" name="Shape 63"/>
          <p:cNvSpPr/>
          <p:nvPr/>
        </p:nvSpPr>
        <p:spPr>
          <a:xfrm>
            <a:off x="6867144" y="4059936"/>
            <a:ext cx="82296" cy="82296"/>
          </a:xfrm>
          <a:prstGeom prst="ellipse">
            <a:avLst/>
          </a:prstGeom>
          <a:solidFill>
            <a:srgbClr val="5A8A6A"/>
          </a:solidFill>
          <a:ln w="12700">
            <a:solidFill>
              <a:srgbClr val="5A8A6A"/>
            </a:solidFill>
            <a:prstDash val="solid"/>
          </a:ln>
        </p:spPr>
      </p:sp>
      <p:sp>
        <p:nvSpPr>
          <p:cNvPr id="68" name="Text 64"/>
          <p:cNvSpPr/>
          <p:nvPr/>
        </p:nvSpPr>
        <p:spPr>
          <a:xfrm>
            <a:off x="7004304" y="4023360"/>
            <a:ext cx="1737360" cy="402336"/>
          </a:xfrm>
          <a:prstGeom prst="rect">
            <a:avLst/>
          </a:prstGeom>
          <a:noFill/>
          <a:ln/>
        </p:spPr>
        <p:txBody>
          <a:bodyPr wrap="square" lIns="0" tIns="0" rIns="0" bIns="0" rtlCol="0" anchor="ctr"/>
          <a:lstStyle/>
          <a:p>
            <a:pPr marL="0" indent="0">
              <a:buNone/>
            </a:pPr>
            <a:r>
              <a:rPr lang="en-US" sz="900" dirty="0">
                <a:solidFill>
                  <a:srgbClr val="222B26"/>
                </a:solidFill>
                <a:latin typeface="Segoe UI" pitchFamily="34" charset="0"/>
                <a:ea typeface="Segoe UI" pitchFamily="34" charset="-122"/>
                <a:cs typeface="Segoe UI" pitchFamily="34" charset="-120"/>
              </a:rPr>
              <a:t>Deployment &amp; go-live</a:t>
            </a:r>
            <a:endParaRPr lang="en-US" sz="900" dirty="0"/>
          </a:p>
        </p:txBody>
      </p:sp>
      <p:sp>
        <p:nvSpPr>
          <p:cNvPr id="69" name="Shape 65"/>
          <p:cNvSpPr/>
          <p:nvPr/>
        </p:nvSpPr>
        <p:spPr>
          <a:xfrm>
            <a:off x="274320" y="4882896"/>
            <a:ext cx="8595360" cy="0"/>
          </a:xfrm>
          <a:prstGeom prst="line">
            <a:avLst/>
          </a:prstGeom>
          <a:noFill/>
          <a:ln w="19050">
            <a:solidFill>
              <a:srgbClr val="679F7B"/>
            </a:solidFill>
            <a:prstDash val="solid"/>
          </a:ln>
        </p:spPr>
      </p:sp>
      <p:sp>
        <p:nvSpPr>
          <p:cNvPr id="70" name="Text 66"/>
          <p:cNvSpPr/>
          <p:nvPr/>
        </p:nvSpPr>
        <p:spPr>
          <a:xfrm>
            <a:off x="274320" y="4928616"/>
            <a:ext cx="859536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pic>
        <p:nvPicPr>
          <p:cNvPr id="71" name="Picture 70">
            <a:extLst>
              <a:ext uri="{FF2B5EF4-FFF2-40B4-BE49-F238E27FC236}">
                <a16:creationId xmlns:a16="http://schemas.microsoft.com/office/drawing/2014/main" id="{012D4885-D3C2-4B72-EA8E-EB13A1D2B38B}"/>
              </a:ext>
            </a:extLst>
          </p:cNvPr>
          <p:cNvPicPr>
            <a:picLocks noChangeAspect="1"/>
          </p:cNvPicPr>
          <p:nvPr/>
        </p:nvPicPr>
        <p:blipFill>
          <a:blip r:embed="rId5"/>
          <a:stretch>
            <a:fillRect/>
          </a:stretch>
        </p:blipFill>
        <p:spPr>
          <a:xfrm>
            <a:off x="274320" y="84807"/>
            <a:ext cx="1718253" cy="3288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274320" y="73152"/>
            <a:ext cx="1417320" cy="283464"/>
          </a:xfrm>
          <a:prstGeom prst="rect">
            <a:avLst/>
          </a:prstGeom>
        </p:spPr>
      </p:pic>
      <p:sp>
        <p:nvSpPr>
          <p:cNvPr id="3" name="Text 0"/>
          <p:cNvSpPr/>
          <p:nvPr/>
        </p:nvSpPr>
        <p:spPr>
          <a:xfrm>
            <a:off x="6126480" y="109728"/>
            <a:ext cx="1371600" cy="182880"/>
          </a:xfrm>
          <a:prstGeom prst="rect">
            <a:avLst/>
          </a:prstGeom>
          <a:noFill/>
          <a:ln/>
        </p:spPr>
        <p:txBody>
          <a:bodyPr wrap="square" lIns="0" tIns="0" rIns="0" bIns="0" rtlCol="0" anchor="ctr"/>
          <a:lstStyle/>
          <a:p>
            <a:pPr marL="0" indent="0" algn="r">
              <a:buNone/>
            </a:pPr>
            <a:r>
              <a:rPr lang="en-US" sz="750" dirty="0">
                <a:solidFill>
                  <a:srgbClr val="9F9C8F"/>
                </a:solidFill>
                <a:latin typeface="Segoe UI" pitchFamily="34" charset="0"/>
                <a:ea typeface="Segoe UI" pitchFamily="34" charset="-122"/>
                <a:cs typeface="Segoe UI" pitchFamily="34" charset="-120"/>
              </a:rPr>
              <a:t>In partnership with</a:t>
            </a:r>
            <a:endParaRPr lang="en-US" sz="750" dirty="0"/>
          </a:p>
        </p:txBody>
      </p:sp>
      <p:pic>
        <p:nvPicPr>
          <p:cNvPr id="4" name="Image 1" descr="preencoded.png"/>
          <p:cNvPicPr>
            <a:picLocks noChangeAspect="1"/>
          </p:cNvPicPr>
          <p:nvPr/>
        </p:nvPicPr>
        <p:blipFill>
          <a:blip r:embed="rId4"/>
          <a:srcRect/>
          <a:stretch/>
        </p:blipFill>
        <p:spPr>
          <a:xfrm>
            <a:off x="7571232" y="36576"/>
            <a:ext cx="1298448" cy="356616"/>
          </a:xfrm>
          <a:prstGeom prst="rect">
            <a:avLst/>
          </a:prstGeom>
        </p:spPr>
      </p:pic>
      <p:sp>
        <p:nvSpPr>
          <p:cNvPr id="5" name="Shape 1"/>
          <p:cNvSpPr/>
          <p:nvPr/>
        </p:nvSpPr>
        <p:spPr>
          <a:xfrm>
            <a:off x="0" y="438912"/>
            <a:ext cx="9144000" cy="32004"/>
          </a:xfrm>
          <a:prstGeom prst="rect">
            <a:avLst/>
          </a:prstGeom>
          <a:solidFill>
            <a:srgbClr val="679F7B"/>
          </a:solidFill>
          <a:ln w="12700">
            <a:solidFill>
              <a:srgbClr val="679F7B"/>
            </a:solidFill>
            <a:prstDash val="solid"/>
          </a:ln>
        </p:spPr>
      </p:sp>
      <p:sp>
        <p:nvSpPr>
          <p:cNvPr id="6" name="Shape 2"/>
          <p:cNvSpPr/>
          <p:nvPr/>
        </p:nvSpPr>
        <p:spPr>
          <a:xfrm>
            <a:off x="274320" y="548640"/>
            <a:ext cx="8595360" cy="384048"/>
          </a:xfrm>
          <a:prstGeom prst="rect">
            <a:avLst/>
          </a:prstGeom>
          <a:solidFill>
            <a:srgbClr val="679F7B"/>
          </a:solidFill>
          <a:ln w="12700">
            <a:solidFill>
              <a:srgbClr val="679F7B"/>
            </a:solidFill>
            <a:prstDash val="solid"/>
          </a:ln>
        </p:spPr>
      </p:sp>
      <p:sp>
        <p:nvSpPr>
          <p:cNvPr id="7" name="Text 3"/>
          <p:cNvSpPr/>
          <p:nvPr/>
        </p:nvSpPr>
        <p:spPr>
          <a:xfrm>
            <a:off x="411480" y="576072"/>
            <a:ext cx="8321040" cy="329184"/>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  What Calance Needs to Move Forward</a:t>
            </a:r>
            <a:endParaRPr lang="en-US" sz="1300" dirty="0"/>
          </a:p>
        </p:txBody>
      </p:sp>
      <p:sp>
        <p:nvSpPr>
          <p:cNvPr id="8" name="Shape 4"/>
          <p:cNvSpPr/>
          <p:nvPr/>
        </p:nvSpPr>
        <p:spPr>
          <a:xfrm>
            <a:off x="256032" y="1051560"/>
            <a:ext cx="5486400" cy="310896"/>
          </a:xfrm>
          <a:prstGeom prst="rect">
            <a:avLst/>
          </a:prstGeom>
          <a:solidFill>
            <a:srgbClr val="222B26"/>
          </a:solidFill>
          <a:ln w="12700">
            <a:solidFill>
              <a:srgbClr val="222B26"/>
            </a:solidFill>
            <a:prstDash val="solid"/>
          </a:ln>
        </p:spPr>
      </p:sp>
      <p:sp>
        <p:nvSpPr>
          <p:cNvPr id="9" name="Shape 5"/>
          <p:cNvSpPr/>
          <p:nvPr/>
        </p:nvSpPr>
        <p:spPr>
          <a:xfrm>
            <a:off x="256032" y="1051560"/>
            <a:ext cx="54864" cy="310896"/>
          </a:xfrm>
          <a:prstGeom prst="rect">
            <a:avLst/>
          </a:prstGeom>
          <a:solidFill>
            <a:srgbClr val="679F7B"/>
          </a:solidFill>
          <a:ln w="12700">
            <a:solidFill>
              <a:srgbClr val="679F7B"/>
            </a:solidFill>
            <a:prstDash val="solid"/>
          </a:ln>
        </p:spPr>
      </p:sp>
      <p:sp>
        <p:nvSpPr>
          <p:cNvPr id="10" name="Text 6"/>
          <p:cNvSpPr/>
          <p:nvPr/>
        </p:nvSpPr>
        <p:spPr>
          <a:xfrm>
            <a:off x="384048" y="1078992"/>
            <a:ext cx="5257800" cy="256032"/>
          </a:xfrm>
          <a:prstGeom prst="rect">
            <a:avLst/>
          </a:prstGeom>
          <a:noFill/>
          <a:ln/>
        </p:spPr>
        <p:txBody>
          <a:bodyPr wrap="square" lIns="0" tIns="0" rIns="0" bIns="0"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Three Inputs That Unlock Full Build</a:t>
            </a:r>
            <a:endParaRPr lang="en-US" sz="1000" dirty="0"/>
          </a:p>
        </p:txBody>
      </p:sp>
      <p:sp>
        <p:nvSpPr>
          <p:cNvPr id="11" name="Shape 7"/>
          <p:cNvSpPr/>
          <p:nvPr/>
        </p:nvSpPr>
        <p:spPr>
          <a:xfrm>
            <a:off x="256032" y="1435608"/>
            <a:ext cx="5486400" cy="914400"/>
          </a:xfrm>
          <a:prstGeom prst="rect">
            <a:avLst/>
          </a:prstGeom>
          <a:solidFill>
            <a:srgbClr val="F2F0EE"/>
          </a:solidFill>
          <a:ln w="12700">
            <a:solidFill>
              <a:srgbClr val="F2F0EE"/>
            </a:solidFill>
            <a:prstDash val="solid"/>
          </a:ln>
        </p:spPr>
      </p:sp>
      <p:sp>
        <p:nvSpPr>
          <p:cNvPr id="12" name="Shape 8"/>
          <p:cNvSpPr/>
          <p:nvPr/>
        </p:nvSpPr>
        <p:spPr>
          <a:xfrm>
            <a:off x="256032" y="1435608"/>
            <a:ext cx="54864" cy="914400"/>
          </a:xfrm>
          <a:prstGeom prst="rect">
            <a:avLst/>
          </a:prstGeom>
          <a:solidFill>
            <a:srgbClr val="679F7B"/>
          </a:solidFill>
          <a:ln w="12700">
            <a:solidFill>
              <a:srgbClr val="679F7B"/>
            </a:solidFill>
            <a:prstDash val="solid"/>
          </a:ln>
        </p:spPr>
      </p:sp>
      <p:sp>
        <p:nvSpPr>
          <p:cNvPr id="13" name="Shape 9"/>
          <p:cNvSpPr/>
          <p:nvPr/>
        </p:nvSpPr>
        <p:spPr>
          <a:xfrm>
            <a:off x="347472" y="1499616"/>
            <a:ext cx="301752" cy="301752"/>
          </a:xfrm>
          <a:prstGeom prst="ellipse">
            <a:avLst/>
          </a:prstGeom>
          <a:solidFill>
            <a:srgbClr val="679F7B"/>
          </a:solidFill>
          <a:ln w="12700">
            <a:solidFill>
              <a:srgbClr val="679F7B"/>
            </a:solidFill>
            <a:prstDash val="solid"/>
          </a:ln>
        </p:spPr>
      </p:sp>
      <p:sp>
        <p:nvSpPr>
          <p:cNvPr id="14" name="Text 10"/>
          <p:cNvSpPr/>
          <p:nvPr/>
        </p:nvSpPr>
        <p:spPr>
          <a:xfrm>
            <a:off x="347472" y="1517904"/>
            <a:ext cx="301752" cy="265176"/>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01</a:t>
            </a:r>
            <a:endParaRPr lang="en-US" sz="1000" dirty="0"/>
          </a:p>
        </p:txBody>
      </p:sp>
      <p:sp>
        <p:nvSpPr>
          <p:cNvPr id="15" name="Text 11"/>
          <p:cNvSpPr/>
          <p:nvPr/>
        </p:nvSpPr>
        <p:spPr>
          <a:xfrm>
            <a:off x="749808" y="1481328"/>
            <a:ext cx="4892040" cy="256032"/>
          </a:xfrm>
          <a:prstGeom prst="rect">
            <a:avLst/>
          </a:prstGeom>
          <a:noFill/>
          <a:ln/>
        </p:spPr>
        <p:txBody>
          <a:bodyPr wrap="square" lIns="0" tIns="0" rIns="0" bIns="0" rtlCol="0" anchor="ctr"/>
          <a:lstStyle/>
          <a:p>
            <a:pPr marL="0" indent="0">
              <a:buNone/>
            </a:pPr>
            <a:r>
              <a:rPr lang="en-US" sz="1000" b="1" dirty="0">
                <a:solidFill>
                  <a:srgbClr val="222B26"/>
                </a:solidFill>
                <a:latin typeface="Segoe UI" pitchFamily="34" charset="0"/>
                <a:ea typeface="Segoe UI" pitchFamily="34" charset="-122"/>
                <a:cs typeface="Segoe UI" pitchFamily="34" charset="-120"/>
              </a:rPr>
              <a:t>President's Letter Template Validation</a:t>
            </a:r>
            <a:endParaRPr lang="en-US" sz="1000" dirty="0"/>
          </a:p>
        </p:txBody>
      </p:sp>
      <p:sp>
        <p:nvSpPr>
          <p:cNvPr id="16" name="Text 12"/>
          <p:cNvSpPr/>
          <p:nvPr/>
        </p:nvSpPr>
        <p:spPr>
          <a:xfrm>
            <a:off x="749808" y="1755648"/>
            <a:ext cx="4892040" cy="548640"/>
          </a:xfrm>
          <a:prstGeom prst="rect">
            <a:avLst/>
          </a:prstGeom>
          <a:noFill/>
          <a:ln/>
        </p:spPr>
        <p:txBody>
          <a:bodyPr wrap="square" lIns="0" tIns="0" rIns="0" bIns="0" rtlCol="0" anchor="ctr"/>
          <a:lstStyle/>
          <a:p>
            <a:pPr marL="0" indent="0">
              <a:lnSpc>
                <a:spcPct val="125000"/>
              </a:lnSpc>
              <a:buNone/>
            </a:pPr>
            <a:r>
              <a:rPr lang="en-US" sz="850" dirty="0">
                <a:solidFill>
                  <a:srgbClr val="222B26"/>
                </a:solidFill>
                <a:latin typeface="Segoe UI" pitchFamily="34" charset="0"/>
                <a:ea typeface="Segoe UI" pitchFamily="34" charset="-122"/>
                <a:cs typeface="Segoe UI" pitchFamily="34" charset="-120"/>
              </a:rPr>
              <a:t>Calance analyzed 5 existing letters to distill common sections and has mapped Scout raw data to cover 80%+ of the content. Validation of this template structure — section names, order, and critical vs. optional fields — is needed before the generation agent is finalized.</a:t>
            </a:r>
            <a:endParaRPr lang="en-US" sz="850" dirty="0"/>
          </a:p>
        </p:txBody>
      </p:sp>
      <p:sp>
        <p:nvSpPr>
          <p:cNvPr id="17" name="Shape 13"/>
          <p:cNvSpPr/>
          <p:nvPr/>
        </p:nvSpPr>
        <p:spPr>
          <a:xfrm>
            <a:off x="256032" y="2414016"/>
            <a:ext cx="5486400" cy="914400"/>
          </a:xfrm>
          <a:prstGeom prst="rect">
            <a:avLst/>
          </a:prstGeom>
          <a:solidFill>
            <a:srgbClr val="F2F0EE"/>
          </a:solidFill>
          <a:ln w="12700">
            <a:solidFill>
              <a:srgbClr val="F2F0EE"/>
            </a:solidFill>
            <a:prstDash val="solid"/>
          </a:ln>
        </p:spPr>
      </p:sp>
      <p:sp>
        <p:nvSpPr>
          <p:cNvPr id="18" name="Shape 14"/>
          <p:cNvSpPr/>
          <p:nvPr/>
        </p:nvSpPr>
        <p:spPr>
          <a:xfrm>
            <a:off x="256032" y="2414016"/>
            <a:ext cx="54864" cy="914400"/>
          </a:xfrm>
          <a:prstGeom prst="rect">
            <a:avLst/>
          </a:prstGeom>
          <a:solidFill>
            <a:srgbClr val="AE8F5D"/>
          </a:solidFill>
          <a:ln w="12700">
            <a:solidFill>
              <a:srgbClr val="AE8F5D"/>
            </a:solidFill>
            <a:prstDash val="solid"/>
          </a:ln>
        </p:spPr>
      </p:sp>
      <p:sp>
        <p:nvSpPr>
          <p:cNvPr id="19" name="Shape 15"/>
          <p:cNvSpPr/>
          <p:nvPr/>
        </p:nvSpPr>
        <p:spPr>
          <a:xfrm>
            <a:off x="347472" y="2478024"/>
            <a:ext cx="301752" cy="301752"/>
          </a:xfrm>
          <a:prstGeom prst="ellipse">
            <a:avLst/>
          </a:prstGeom>
          <a:solidFill>
            <a:srgbClr val="AE8F5D"/>
          </a:solidFill>
          <a:ln w="12700">
            <a:solidFill>
              <a:srgbClr val="AE8F5D"/>
            </a:solidFill>
            <a:prstDash val="solid"/>
          </a:ln>
        </p:spPr>
      </p:sp>
      <p:sp>
        <p:nvSpPr>
          <p:cNvPr id="20" name="Text 16"/>
          <p:cNvSpPr/>
          <p:nvPr/>
        </p:nvSpPr>
        <p:spPr>
          <a:xfrm>
            <a:off x="347472" y="2496312"/>
            <a:ext cx="301752" cy="265176"/>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02</a:t>
            </a:r>
            <a:endParaRPr lang="en-US" sz="1000" dirty="0"/>
          </a:p>
        </p:txBody>
      </p:sp>
      <p:sp>
        <p:nvSpPr>
          <p:cNvPr id="21" name="Text 17"/>
          <p:cNvSpPr/>
          <p:nvPr/>
        </p:nvSpPr>
        <p:spPr>
          <a:xfrm>
            <a:off x="749808" y="2459736"/>
            <a:ext cx="4892040" cy="256032"/>
          </a:xfrm>
          <a:prstGeom prst="rect">
            <a:avLst/>
          </a:prstGeom>
          <a:noFill/>
          <a:ln/>
        </p:spPr>
        <p:txBody>
          <a:bodyPr wrap="square" lIns="0" tIns="0" rIns="0" bIns="0" rtlCol="0" anchor="ctr"/>
          <a:lstStyle/>
          <a:p>
            <a:pPr marL="0" indent="0">
              <a:buNone/>
            </a:pPr>
            <a:r>
              <a:rPr lang="en-US" sz="1000" b="1" dirty="0">
                <a:solidFill>
                  <a:srgbClr val="222B26"/>
                </a:solidFill>
                <a:latin typeface="Segoe UI" pitchFamily="34" charset="0"/>
                <a:ea typeface="Segoe UI" pitchFamily="34" charset="-122"/>
                <a:cs typeface="Segoe UI" pitchFamily="34" charset="-120"/>
              </a:rPr>
              <a:t>Data Sourcing Decision for the Remaining Gap</a:t>
            </a:r>
            <a:endParaRPr lang="en-US" sz="1000" dirty="0"/>
          </a:p>
        </p:txBody>
      </p:sp>
      <p:sp>
        <p:nvSpPr>
          <p:cNvPr id="22" name="Text 18"/>
          <p:cNvSpPr/>
          <p:nvPr/>
        </p:nvSpPr>
        <p:spPr>
          <a:xfrm>
            <a:off x="749808" y="2734056"/>
            <a:ext cx="4892040" cy="548640"/>
          </a:xfrm>
          <a:prstGeom prst="rect">
            <a:avLst/>
          </a:prstGeom>
          <a:noFill/>
          <a:ln/>
        </p:spPr>
        <p:txBody>
          <a:bodyPr wrap="square" lIns="0" tIns="0" rIns="0" bIns="0" rtlCol="0" anchor="ctr"/>
          <a:lstStyle/>
          <a:p>
            <a:pPr marL="0" indent="0">
              <a:lnSpc>
                <a:spcPct val="125000"/>
              </a:lnSpc>
              <a:buNone/>
            </a:pPr>
            <a:r>
              <a:rPr lang="en-US" sz="850" dirty="0">
                <a:solidFill>
                  <a:srgbClr val="222B26"/>
                </a:solidFill>
                <a:latin typeface="Segoe UI" pitchFamily="34" charset="0"/>
                <a:ea typeface="Segoe UI" pitchFamily="34" charset="-122"/>
                <a:cs typeface="Segoe UI" pitchFamily="34" charset="-120"/>
              </a:rPr>
              <a:t>Approximately 20% of President's Letter content (Phase 1 assessments, utility will-serve letters, deal narrative context) does not yet exist in Scout. A decision is needed: should this supplemental data live in Scout (new tables) or be uploaded separately at letter-generation time?</a:t>
            </a:r>
            <a:endParaRPr lang="en-US" sz="850" dirty="0"/>
          </a:p>
        </p:txBody>
      </p:sp>
      <p:sp>
        <p:nvSpPr>
          <p:cNvPr id="23" name="Shape 19"/>
          <p:cNvSpPr/>
          <p:nvPr/>
        </p:nvSpPr>
        <p:spPr>
          <a:xfrm>
            <a:off x="256032" y="3392424"/>
            <a:ext cx="5486400" cy="914400"/>
          </a:xfrm>
          <a:prstGeom prst="rect">
            <a:avLst/>
          </a:prstGeom>
          <a:solidFill>
            <a:srgbClr val="F2F0EE"/>
          </a:solidFill>
          <a:ln w="12700">
            <a:solidFill>
              <a:srgbClr val="F2F0EE"/>
            </a:solidFill>
            <a:prstDash val="solid"/>
          </a:ln>
        </p:spPr>
      </p:sp>
      <p:sp>
        <p:nvSpPr>
          <p:cNvPr id="24" name="Shape 20"/>
          <p:cNvSpPr/>
          <p:nvPr/>
        </p:nvSpPr>
        <p:spPr>
          <a:xfrm>
            <a:off x="256032" y="3392424"/>
            <a:ext cx="54864" cy="914400"/>
          </a:xfrm>
          <a:prstGeom prst="rect">
            <a:avLst/>
          </a:prstGeom>
          <a:solidFill>
            <a:srgbClr val="9F2C32"/>
          </a:solidFill>
          <a:ln w="12700">
            <a:solidFill>
              <a:srgbClr val="9F2C32"/>
            </a:solidFill>
            <a:prstDash val="solid"/>
          </a:ln>
        </p:spPr>
      </p:sp>
      <p:sp>
        <p:nvSpPr>
          <p:cNvPr id="25" name="Shape 21"/>
          <p:cNvSpPr/>
          <p:nvPr/>
        </p:nvSpPr>
        <p:spPr>
          <a:xfrm>
            <a:off x="347472" y="3456432"/>
            <a:ext cx="301752" cy="301752"/>
          </a:xfrm>
          <a:prstGeom prst="ellipse">
            <a:avLst/>
          </a:prstGeom>
          <a:solidFill>
            <a:srgbClr val="9F2C32"/>
          </a:solidFill>
          <a:ln w="12700">
            <a:solidFill>
              <a:srgbClr val="9F2C32"/>
            </a:solidFill>
            <a:prstDash val="solid"/>
          </a:ln>
        </p:spPr>
      </p:sp>
      <p:sp>
        <p:nvSpPr>
          <p:cNvPr id="26" name="Text 22"/>
          <p:cNvSpPr/>
          <p:nvPr/>
        </p:nvSpPr>
        <p:spPr>
          <a:xfrm>
            <a:off x="347472" y="3474720"/>
            <a:ext cx="301752" cy="265176"/>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03</a:t>
            </a:r>
            <a:endParaRPr lang="en-US" sz="1000" dirty="0"/>
          </a:p>
        </p:txBody>
      </p:sp>
      <p:sp>
        <p:nvSpPr>
          <p:cNvPr id="27" name="Text 23"/>
          <p:cNvSpPr/>
          <p:nvPr/>
        </p:nvSpPr>
        <p:spPr>
          <a:xfrm>
            <a:off x="749808" y="3438144"/>
            <a:ext cx="4892040" cy="256032"/>
          </a:xfrm>
          <a:prstGeom prst="rect">
            <a:avLst/>
          </a:prstGeom>
          <a:noFill/>
          <a:ln/>
        </p:spPr>
        <p:txBody>
          <a:bodyPr wrap="square" lIns="0" tIns="0" rIns="0" bIns="0" rtlCol="0" anchor="ctr"/>
          <a:lstStyle/>
          <a:p>
            <a:pPr marL="0" indent="0">
              <a:buNone/>
            </a:pPr>
            <a:r>
              <a:rPr lang="en-US" sz="1000" b="1" dirty="0">
                <a:solidFill>
                  <a:srgbClr val="222B26"/>
                </a:solidFill>
                <a:latin typeface="Segoe UI" pitchFamily="34" charset="0"/>
                <a:ea typeface="Segoe UI" pitchFamily="34" charset="-122"/>
                <a:cs typeface="Segoe UI" pitchFamily="34" charset="-120"/>
              </a:rPr>
              <a:t>Two Real Deals for End-to-End Validation</a:t>
            </a:r>
            <a:endParaRPr lang="en-US" sz="1000" dirty="0"/>
          </a:p>
        </p:txBody>
      </p:sp>
      <p:sp>
        <p:nvSpPr>
          <p:cNvPr id="28" name="Text 24"/>
          <p:cNvSpPr/>
          <p:nvPr/>
        </p:nvSpPr>
        <p:spPr>
          <a:xfrm>
            <a:off x="749808" y="3712464"/>
            <a:ext cx="4892040" cy="548640"/>
          </a:xfrm>
          <a:prstGeom prst="rect">
            <a:avLst/>
          </a:prstGeom>
          <a:noFill/>
          <a:ln/>
        </p:spPr>
        <p:txBody>
          <a:bodyPr wrap="square" lIns="0" tIns="0" rIns="0" bIns="0" rtlCol="0" anchor="ctr"/>
          <a:lstStyle/>
          <a:p>
            <a:pPr marL="0" indent="0">
              <a:lnSpc>
                <a:spcPct val="125000"/>
              </a:lnSpc>
              <a:buNone/>
            </a:pPr>
            <a:r>
              <a:rPr lang="en-US" sz="850" dirty="0">
                <a:solidFill>
                  <a:srgbClr val="222B26"/>
                </a:solidFill>
                <a:latin typeface="Segoe UI" pitchFamily="34" charset="0"/>
                <a:ea typeface="Segoe UI" pitchFamily="34" charset="-122"/>
                <a:cs typeface="Segoe UI" pitchFamily="34" charset="-120"/>
              </a:rPr>
              <a:t>To prove the integrated agent end-to-end, Calance needs two real Scout deal records to generate draft letters against. Selection of representative deals ensures the test reflects real data and enables immediate feedback on output quality.</a:t>
            </a:r>
            <a:endParaRPr lang="en-US" sz="850" dirty="0"/>
          </a:p>
        </p:txBody>
      </p:sp>
      <p:sp>
        <p:nvSpPr>
          <p:cNvPr id="29" name="Shape 25"/>
          <p:cNvSpPr/>
          <p:nvPr/>
        </p:nvSpPr>
        <p:spPr>
          <a:xfrm>
            <a:off x="5907024" y="1051560"/>
            <a:ext cx="2944368" cy="310896"/>
          </a:xfrm>
          <a:prstGeom prst="rect">
            <a:avLst/>
          </a:prstGeom>
          <a:solidFill>
            <a:srgbClr val="679F7B"/>
          </a:solidFill>
          <a:ln w="12700">
            <a:solidFill>
              <a:srgbClr val="679F7B"/>
            </a:solidFill>
            <a:prstDash val="solid"/>
          </a:ln>
        </p:spPr>
      </p:sp>
      <p:sp>
        <p:nvSpPr>
          <p:cNvPr id="30" name="Text 26"/>
          <p:cNvSpPr/>
          <p:nvPr/>
        </p:nvSpPr>
        <p:spPr>
          <a:xfrm>
            <a:off x="5980176" y="1078992"/>
            <a:ext cx="2798064" cy="256032"/>
          </a:xfrm>
          <a:prstGeom prst="rect">
            <a:avLst/>
          </a:prstGeom>
          <a:noFill/>
          <a:ln/>
        </p:spPr>
        <p:txBody>
          <a:bodyPr wrap="square" lIns="0" tIns="0" rIns="0" bIns="0"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Questions &amp; Discussion</a:t>
            </a:r>
            <a:endParaRPr lang="en-US" sz="1000" dirty="0"/>
          </a:p>
        </p:txBody>
      </p:sp>
      <p:sp>
        <p:nvSpPr>
          <p:cNvPr id="31" name="Shape 27"/>
          <p:cNvSpPr/>
          <p:nvPr/>
        </p:nvSpPr>
        <p:spPr>
          <a:xfrm>
            <a:off x="5907024" y="1362456"/>
            <a:ext cx="2944368" cy="3401568"/>
          </a:xfrm>
          <a:prstGeom prst="rect">
            <a:avLst/>
          </a:prstGeom>
          <a:solidFill>
            <a:srgbClr val="F2F0EE"/>
          </a:solidFill>
          <a:ln w="12700">
            <a:solidFill>
              <a:srgbClr val="F2F0EE"/>
            </a:solidFill>
            <a:prstDash val="solid"/>
          </a:ln>
        </p:spPr>
      </p:sp>
      <p:sp>
        <p:nvSpPr>
          <p:cNvPr id="32" name="Shape 28"/>
          <p:cNvSpPr/>
          <p:nvPr/>
        </p:nvSpPr>
        <p:spPr>
          <a:xfrm>
            <a:off x="5907024" y="1362456"/>
            <a:ext cx="54864" cy="3401568"/>
          </a:xfrm>
          <a:prstGeom prst="rect">
            <a:avLst/>
          </a:prstGeom>
          <a:solidFill>
            <a:srgbClr val="679F7B"/>
          </a:solidFill>
          <a:ln w="12700">
            <a:solidFill>
              <a:srgbClr val="679F7B"/>
            </a:solidFill>
            <a:prstDash val="solid"/>
          </a:ln>
        </p:spPr>
      </p:sp>
      <p:sp>
        <p:nvSpPr>
          <p:cNvPr id="33" name="Shape 29"/>
          <p:cNvSpPr/>
          <p:nvPr/>
        </p:nvSpPr>
        <p:spPr>
          <a:xfrm>
            <a:off x="6016752" y="1499616"/>
            <a:ext cx="100584" cy="100584"/>
          </a:xfrm>
          <a:prstGeom prst="ellipse">
            <a:avLst/>
          </a:prstGeom>
          <a:solidFill>
            <a:srgbClr val="AE8F5D"/>
          </a:solidFill>
          <a:ln w="12700">
            <a:solidFill>
              <a:srgbClr val="AE8F5D"/>
            </a:solidFill>
            <a:prstDash val="solid"/>
          </a:ln>
        </p:spPr>
      </p:sp>
      <p:sp>
        <p:nvSpPr>
          <p:cNvPr id="34" name="Text 30"/>
          <p:cNvSpPr/>
          <p:nvPr/>
        </p:nvSpPr>
        <p:spPr>
          <a:xfrm>
            <a:off x="6163056" y="1472184"/>
            <a:ext cx="2615184" cy="457200"/>
          </a:xfrm>
          <a:prstGeom prst="rect">
            <a:avLst/>
          </a:prstGeom>
          <a:noFill/>
          <a:ln/>
        </p:spPr>
        <p:txBody>
          <a:bodyPr wrap="square" lIns="0" tIns="0" rIns="0" bIns="0" rtlCol="0" anchor="ctr"/>
          <a:lstStyle/>
          <a:p>
            <a:pPr marL="0" indent="0">
              <a:lnSpc>
                <a:spcPct val="130000"/>
              </a:lnSpc>
              <a:buNone/>
            </a:pPr>
            <a:r>
              <a:rPr lang="en-US" sz="900" dirty="0">
                <a:solidFill>
                  <a:srgbClr val="222B26"/>
                </a:solidFill>
                <a:latin typeface="Segoe UI" pitchFamily="34" charset="0"/>
                <a:ea typeface="Segoe UI" pitchFamily="34" charset="-122"/>
                <a:cs typeface="Segoe UI" pitchFamily="34" charset="-120"/>
              </a:rPr>
              <a:t>What sections of the President's Letter are non-negotiable vs. deal-specific?</a:t>
            </a:r>
            <a:endParaRPr lang="en-US" sz="900" dirty="0"/>
          </a:p>
        </p:txBody>
      </p:sp>
      <p:sp>
        <p:nvSpPr>
          <p:cNvPr id="35" name="Shape 31"/>
          <p:cNvSpPr/>
          <p:nvPr/>
        </p:nvSpPr>
        <p:spPr>
          <a:xfrm>
            <a:off x="6016752" y="2048256"/>
            <a:ext cx="100584" cy="100584"/>
          </a:xfrm>
          <a:prstGeom prst="ellipse">
            <a:avLst/>
          </a:prstGeom>
          <a:solidFill>
            <a:srgbClr val="AE8F5D"/>
          </a:solidFill>
          <a:ln w="12700">
            <a:solidFill>
              <a:srgbClr val="AE8F5D"/>
            </a:solidFill>
            <a:prstDash val="solid"/>
          </a:ln>
        </p:spPr>
      </p:sp>
      <p:sp>
        <p:nvSpPr>
          <p:cNvPr id="36" name="Text 32"/>
          <p:cNvSpPr/>
          <p:nvPr/>
        </p:nvSpPr>
        <p:spPr>
          <a:xfrm>
            <a:off x="6163056" y="2020824"/>
            <a:ext cx="2615184" cy="457200"/>
          </a:xfrm>
          <a:prstGeom prst="rect">
            <a:avLst/>
          </a:prstGeom>
          <a:noFill/>
          <a:ln/>
        </p:spPr>
        <p:txBody>
          <a:bodyPr wrap="square" lIns="0" tIns="0" rIns="0" bIns="0" rtlCol="0" anchor="ctr"/>
          <a:lstStyle/>
          <a:p>
            <a:pPr marL="0" indent="0">
              <a:lnSpc>
                <a:spcPct val="130000"/>
              </a:lnSpc>
              <a:buNone/>
            </a:pPr>
            <a:r>
              <a:rPr lang="en-US" sz="900" dirty="0">
                <a:solidFill>
                  <a:srgbClr val="222B26"/>
                </a:solidFill>
                <a:latin typeface="Segoe UI" pitchFamily="34" charset="0"/>
                <a:ea typeface="Segoe UI" pitchFamily="34" charset="-122"/>
                <a:cs typeface="Segoe UI" pitchFamily="34" charset="-120"/>
              </a:rPr>
              <a:t>Which data points matter most — school ratings, market indices, environmental flags?</a:t>
            </a:r>
            <a:endParaRPr lang="en-US" sz="900" dirty="0"/>
          </a:p>
        </p:txBody>
      </p:sp>
      <p:sp>
        <p:nvSpPr>
          <p:cNvPr id="37" name="Shape 33"/>
          <p:cNvSpPr/>
          <p:nvPr/>
        </p:nvSpPr>
        <p:spPr>
          <a:xfrm>
            <a:off x="6016752" y="2596896"/>
            <a:ext cx="100584" cy="100584"/>
          </a:xfrm>
          <a:prstGeom prst="ellipse">
            <a:avLst/>
          </a:prstGeom>
          <a:solidFill>
            <a:srgbClr val="AE8F5D"/>
          </a:solidFill>
          <a:ln w="12700">
            <a:solidFill>
              <a:srgbClr val="AE8F5D"/>
            </a:solidFill>
            <a:prstDash val="solid"/>
          </a:ln>
        </p:spPr>
      </p:sp>
      <p:sp>
        <p:nvSpPr>
          <p:cNvPr id="38" name="Text 34"/>
          <p:cNvSpPr/>
          <p:nvPr/>
        </p:nvSpPr>
        <p:spPr>
          <a:xfrm>
            <a:off x="6163056" y="2569464"/>
            <a:ext cx="2615184" cy="457200"/>
          </a:xfrm>
          <a:prstGeom prst="rect">
            <a:avLst/>
          </a:prstGeom>
          <a:noFill/>
          <a:ln/>
        </p:spPr>
        <p:txBody>
          <a:bodyPr wrap="square" lIns="0" tIns="0" rIns="0" bIns="0" rtlCol="0" anchor="ctr"/>
          <a:lstStyle/>
          <a:p>
            <a:pPr marL="0" indent="0">
              <a:lnSpc>
                <a:spcPct val="130000"/>
              </a:lnSpc>
              <a:buNone/>
            </a:pPr>
            <a:r>
              <a:rPr lang="en-US" sz="900" dirty="0">
                <a:solidFill>
                  <a:srgbClr val="222B26"/>
                </a:solidFill>
                <a:latin typeface="Segoe UI" pitchFamily="34" charset="0"/>
                <a:ea typeface="Segoe UI" pitchFamily="34" charset="-122"/>
                <a:cs typeface="Segoe UI" pitchFamily="34" charset="-120"/>
              </a:rPr>
              <a:t>Is there a preferred format or approval chain for the letter once generated?</a:t>
            </a:r>
            <a:endParaRPr lang="en-US" sz="900" dirty="0"/>
          </a:p>
        </p:txBody>
      </p:sp>
      <p:sp>
        <p:nvSpPr>
          <p:cNvPr id="39" name="Shape 35"/>
          <p:cNvSpPr/>
          <p:nvPr/>
        </p:nvSpPr>
        <p:spPr>
          <a:xfrm>
            <a:off x="6016752" y="3145536"/>
            <a:ext cx="100584" cy="100584"/>
          </a:xfrm>
          <a:prstGeom prst="ellipse">
            <a:avLst/>
          </a:prstGeom>
          <a:solidFill>
            <a:srgbClr val="AE8F5D"/>
          </a:solidFill>
          <a:ln w="12700">
            <a:solidFill>
              <a:srgbClr val="AE8F5D"/>
            </a:solidFill>
            <a:prstDash val="solid"/>
          </a:ln>
        </p:spPr>
      </p:sp>
      <p:sp>
        <p:nvSpPr>
          <p:cNvPr id="40" name="Text 36"/>
          <p:cNvSpPr/>
          <p:nvPr/>
        </p:nvSpPr>
        <p:spPr>
          <a:xfrm>
            <a:off x="6163056" y="3118104"/>
            <a:ext cx="2615184" cy="457200"/>
          </a:xfrm>
          <a:prstGeom prst="rect">
            <a:avLst/>
          </a:prstGeom>
          <a:noFill/>
          <a:ln/>
        </p:spPr>
        <p:txBody>
          <a:bodyPr wrap="square" lIns="0" tIns="0" rIns="0" bIns="0" rtlCol="0" anchor="ctr"/>
          <a:lstStyle/>
          <a:p>
            <a:pPr marL="0" indent="0">
              <a:lnSpc>
                <a:spcPct val="130000"/>
              </a:lnSpc>
              <a:buNone/>
            </a:pPr>
            <a:r>
              <a:rPr lang="en-US" sz="900" dirty="0">
                <a:solidFill>
                  <a:srgbClr val="222B26"/>
                </a:solidFill>
                <a:latin typeface="Segoe UI" pitchFamily="34" charset="0"/>
                <a:ea typeface="Segoe UI" pitchFamily="34" charset="-122"/>
                <a:cs typeface="Segoe UI" pitchFamily="34" charset="-120"/>
              </a:rPr>
              <a:t>Are there deals in flight that would make good validation candidates?</a:t>
            </a:r>
            <a:endParaRPr lang="en-US" sz="900" dirty="0"/>
          </a:p>
        </p:txBody>
      </p:sp>
      <p:sp>
        <p:nvSpPr>
          <p:cNvPr id="41" name="Shape 37"/>
          <p:cNvSpPr/>
          <p:nvPr/>
        </p:nvSpPr>
        <p:spPr>
          <a:xfrm>
            <a:off x="6016752" y="3694176"/>
            <a:ext cx="100584" cy="100584"/>
          </a:xfrm>
          <a:prstGeom prst="ellipse">
            <a:avLst/>
          </a:prstGeom>
          <a:solidFill>
            <a:srgbClr val="AE8F5D"/>
          </a:solidFill>
          <a:ln w="12700">
            <a:solidFill>
              <a:srgbClr val="AE8F5D"/>
            </a:solidFill>
            <a:prstDash val="solid"/>
          </a:ln>
        </p:spPr>
      </p:sp>
      <p:sp>
        <p:nvSpPr>
          <p:cNvPr id="42" name="Text 38"/>
          <p:cNvSpPr/>
          <p:nvPr/>
        </p:nvSpPr>
        <p:spPr>
          <a:xfrm>
            <a:off x="6163056" y="3666744"/>
            <a:ext cx="2615184" cy="457200"/>
          </a:xfrm>
          <a:prstGeom prst="rect">
            <a:avLst/>
          </a:prstGeom>
          <a:noFill/>
          <a:ln/>
        </p:spPr>
        <p:txBody>
          <a:bodyPr wrap="square" lIns="0" tIns="0" rIns="0" bIns="0" rtlCol="0" anchor="ctr"/>
          <a:lstStyle/>
          <a:p>
            <a:pPr marL="0" indent="0">
              <a:lnSpc>
                <a:spcPct val="130000"/>
              </a:lnSpc>
              <a:buNone/>
            </a:pPr>
            <a:r>
              <a:rPr lang="en-US" sz="900" dirty="0">
                <a:solidFill>
                  <a:srgbClr val="222B26"/>
                </a:solidFill>
                <a:latin typeface="Segoe UI" pitchFamily="34" charset="0"/>
                <a:ea typeface="Segoe UI" pitchFamily="34" charset="-122"/>
                <a:cs typeface="Segoe UI" pitchFamily="34" charset="-120"/>
              </a:rPr>
              <a:t>What does 'done' look like for this feature from Beazer's vantage point?</a:t>
            </a:r>
            <a:endParaRPr lang="en-US" sz="900" dirty="0"/>
          </a:p>
        </p:txBody>
      </p:sp>
      <p:sp>
        <p:nvSpPr>
          <p:cNvPr id="43" name="Shape 39"/>
          <p:cNvSpPr/>
          <p:nvPr/>
        </p:nvSpPr>
        <p:spPr>
          <a:xfrm>
            <a:off x="5907024" y="4242816"/>
            <a:ext cx="2944368" cy="521208"/>
          </a:xfrm>
          <a:prstGeom prst="rect">
            <a:avLst/>
          </a:prstGeom>
          <a:solidFill>
            <a:srgbClr val="FFFFFF"/>
          </a:solidFill>
          <a:ln w="19050">
            <a:solidFill>
              <a:srgbClr val="AE8F5D"/>
            </a:solidFill>
            <a:prstDash val="solid"/>
          </a:ln>
        </p:spPr>
      </p:sp>
      <p:sp>
        <p:nvSpPr>
          <p:cNvPr id="44" name="Shape 40"/>
          <p:cNvSpPr/>
          <p:nvPr/>
        </p:nvSpPr>
        <p:spPr>
          <a:xfrm>
            <a:off x="5907024" y="4242816"/>
            <a:ext cx="54864" cy="521208"/>
          </a:xfrm>
          <a:prstGeom prst="rect">
            <a:avLst/>
          </a:prstGeom>
          <a:solidFill>
            <a:srgbClr val="AE8F5D"/>
          </a:solidFill>
          <a:ln w="12700">
            <a:solidFill>
              <a:srgbClr val="AE8F5D"/>
            </a:solidFill>
            <a:prstDash val="solid"/>
          </a:ln>
        </p:spPr>
      </p:sp>
      <p:sp>
        <p:nvSpPr>
          <p:cNvPr id="45" name="Text 41"/>
          <p:cNvSpPr/>
          <p:nvPr/>
        </p:nvSpPr>
        <p:spPr>
          <a:xfrm>
            <a:off x="6016752" y="4279392"/>
            <a:ext cx="2761488" cy="438912"/>
          </a:xfrm>
          <a:prstGeom prst="rect">
            <a:avLst/>
          </a:prstGeom>
          <a:noFill/>
          <a:ln/>
        </p:spPr>
        <p:txBody>
          <a:bodyPr wrap="square" lIns="0" tIns="0" rIns="0" bIns="0" rtlCol="0" anchor="ctr"/>
          <a:lstStyle/>
          <a:p>
            <a:pPr marL="0" indent="0" algn="ctr">
              <a:lnSpc>
                <a:spcPct val="130000"/>
              </a:lnSpc>
              <a:buNone/>
            </a:pPr>
            <a:r>
              <a:rPr lang="en-US" sz="900" b="1" i="1" dirty="0">
                <a:solidFill>
                  <a:schemeClr val="accent1">
                    <a:lumMod val="75000"/>
                  </a:schemeClr>
                </a:solidFill>
                <a:latin typeface="Segoe UI" pitchFamily="34" charset="0"/>
                <a:ea typeface="Segoe UI" pitchFamily="34" charset="-122"/>
                <a:cs typeface="Segoe UI" pitchFamily="34" charset="-120"/>
              </a:rPr>
              <a:t>What does success look like ? </a:t>
            </a:r>
            <a:endParaRPr lang="en-US" sz="900" i="1" dirty="0">
              <a:solidFill>
                <a:schemeClr val="accent1">
                  <a:lumMod val="75000"/>
                </a:schemeClr>
              </a:solidFill>
            </a:endParaRPr>
          </a:p>
        </p:txBody>
      </p:sp>
      <p:sp>
        <p:nvSpPr>
          <p:cNvPr id="46" name="Shape 42"/>
          <p:cNvSpPr/>
          <p:nvPr/>
        </p:nvSpPr>
        <p:spPr>
          <a:xfrm>
            <a:off x="274320" y="4882896"/>
            <a:ext cx="8595360" cy="0"/>
          </a:xfrm>
          <a:prstGeom prst="line">
            <a:avLst/>
          </a:prstGeom>
          <a:noFill/>
          <a:ln w="19050">
            <a:solidFill>
              <a:srgbClr val="679F7B"/>
            </a:solidFill>
            <a:prstDash val="solid"/>
          </a:ln>
        </p:spPr>
      </p:sp>
      <p:sp>
        <p:nvSpPr>
          <p:cNvPr id="47" name="Text 43"/>
          <p:cNvSpPr/>
          <p:nvPr/>
        </p:nvSpPr>
        <p:spPr>
          <a:xfrm>
            <a:off x="274320" y="4928616"/>
            <a:ext cx="8595360" cy="164592"/>
          </a:xfrm>
          <a:prstGeom prst="rect">
            <a:avLst/>
          </a:prstGeom>
          <a:noFill/>
          <a:ln/>
        </p:spPr>
        <p:txBody>
          <a:bodyPr wrap="square" lIns="0" tIns="0" rIns="0" bIns="0" rtlCol="0" anchor="ctr"/>
          <a:lstStyle/>
          <a:p>
            <a:pPr marL="0" indent="0" algn="ctr">
              <a:buNone/>
            </a:pPr>
            <a:r>
              <a:rPr lang="en-US" sz="750" dirty="0">
                <a:solidFill>
                  <a:srgbClr val="9F9C8F"/>
                </a:solidFill>
                <a:latin typeface="Segoe UI" pitchFamily="34" charset="0"/>
                <a:ea typeface="Segoe UI" pitchFamily="34" charset="-122"/>
                <a:cs typeface="Segoe UI" pitchFamily="34" charset="-120"/>
              </a:rPr>
              <a:t>President's Letter Agent  ·  Scout Integration  ·  Confidential</a:t>
            </a:r>
            <a:endParaRPr lang="en-US" sz="750" dirty="0"/>
          </a:p>
        </p:txBody>
      </p:sp>
      <p:pic>
        <p:nvPicPr>
          <p:cNvPr id="48" name="Picture 47">
            <a:extLst>
              <a:ext uri="{FF2B5EF4-FFF2-40B4-BE49-F238E27FC236}">
                <a16:creationId xmlns:a16="http://schemas.microsoft.com/office/drawing/2014/main" id="{90069EE8-5E0D-6CDE-FF79-CAF89809D364}"/>
              </a:ext>
            </a:extLst>
          </p:cNvPr>
          <p:cNvPicPr>
            <a:picLocks noChangeAspect="1"/>
          </p:cNvPicPr>
          <p:nvPr/>
        </p:nvPicPr>
        <p:blipFill>
          <a:blip r:embed="rId5"/>
          <a:stretch>
            <a:fillRect/>
          </a:stretch>
        </p:blipFill>
        <p:spPr>
          <a:xfrm>
            <a:off x="274320" y="84807"/>
            <a:ext cx="1718253" cy="3288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1200</Words>
  <Application>Microsoft Office PowerPoint</Application>
  <PresentationFormat>On-screen Show (16:9)</PresentationFormat>
  <Paragraphs>225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President's Letter Agent — Scout Integration</dc:title>
  <dc:subject>PptxGenJS Presentation</dc:subject>
  <dc:creator>PptxGenJS</dc:creator>
  <cp:lastModifiedBy>jbrockman@careerpark.net</cp:lastModifiedBy>
  <cp:revision>2</cp:revision>
  <dcterms:created xsi:type="dcterms:W3CDTF">2026-03-18T17:10:48Z</dcterms:created>
  <dcterms:modified xsi:type="dcterms:W3CDTF">2026-03-18T17:19:11Z</dcterms:modified>
</cp:coreProperties>
</file>