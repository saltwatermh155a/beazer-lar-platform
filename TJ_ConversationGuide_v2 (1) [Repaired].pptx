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98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"/>
            <a:ext cx="155448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64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786384"/>
            <a:ext cx="8631936" cy="2377440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786384"/>
            <a:ext cx="2304288" cy="2377440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877824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Acquisition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Reconnaissance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75488" y="23042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Session — AI Opportunity Discovery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786384"/>
            <a:ext cx="23042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6032" y="3364992"/>
            <a:ext cx="8631936" cy="566928"/>
          </a:xfrm>
          <a:prstGeom prst="rect">
            <a:avLst/>
          </a:prstGeom>
          <a:solidFill>
            <a:srgbClr val="F2F0EE"/>
          </a:solidFill>
          <a:ln w="12700">
            <a:solidFill>
              <a:srgbClr val="F2F0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" y="3364992"/>
            <a:ext cx="64008" cy="56692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340156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8F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 </a:t>
            </a:r>
            <a:r>
              <a:rPr lang="en-US" sz="1000" i="1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co-discovery session. We are here to listen and learn — not to present a solution. Everything discussed today is exploratory.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4828032"/>
            <a:ext cx="8631936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"/>
            <a:ext cx="155448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64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Today's Agenda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" y="1335024"/>
            <a:ext cx="8631936" cy="658368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335024"/>
            <a:ext cx="475488" cy="65836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33502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Reset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1664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left off and what we've learned since — including what we got wrong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2084832"/>
            <a:ext cx="8631936" cy="658368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2084832"/>
            <a:ext cx="475488" cy="65836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208483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9536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Workflow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" y="24140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us through the LAR process end-to-end — from first site signal to signed-off letter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2834640"/>
            <a:ext cx="8631936" cy="658368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" y="2834640"/>
            <a:ext cx="475488" cy="65836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2834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9536" y="2889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Friction 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31638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Time, handoffs, information gaps — what slows the work down or creates risk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56032" y="3584448"/>
            <a:ext cx="8631936" cy="658368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6032" y="3584448"/>
            <a:ext cx="475488" cy="658368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3584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9536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Go From Here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9536" y="39136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small, clear next step — no big commitments today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56032" y="4828032"/>
            <a:ext cx="8631936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"/>
            <a:ext cx="155448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64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The LAR Lifecycle — As We Understand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032" y="1243584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us correct or fill in what we're missing.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1572768"/>
            <a:ext cx="2834640" cy="329184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572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1  ·  SCOUT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" y="1920240"/>
            <a:ext cx="2834640" cy="1536192"/>
          </a:xfrm>
          <a:prstGeom prst="rect">
            <a:avLst/>
          </a:prstGeom>
          <a:solidFill>
            <a:srgbClr val="F2F0EE"/>
          </a:solidFill>
          <a:ln w="19050">
            <a:solidFill>
              <a:srgbClr val="679F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" y="1920240"/>
            <a:ext cx="2834640" cy="54864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011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/ No-Go Engine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calculations, LAR criteria,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deal metrics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2336" y="2761488"/>
            <a:ext cx="164592" cy="164592"/>
          </a:xfrm>
          <a:prstGeom prst="lin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2724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 —  Proceed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2336" y="2999232"/>
            <a:ext cx="164592" cy="164592"/>
          </a:xfrm>
          <a:prstGeom prst="line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29626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Yellow  —  Caution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2336" y="3236976"/>
            <a:ext cx="164592" cy="164592"/>
          </a:xfrm>
          <a:prstGeom prst="line">
            <a:avLst/>
          </a:prstGeom>
          <a:solidFill>
            <a:srgbClr val="9F2C32"/>
          </a:solidFill>
          <a:ln w="12700">
            <a:solidFill>
              <a:srgbClr val="9F2C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 —  Pass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090672" y="2596896"/>
            <a:ext cx="347472" cy="54864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01568" y="24871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79F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054096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730752" y="1572768"/>
            <a:ext cx="5157216" cy="329184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30752" y="1572768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2  ·  ANALYST WORK  —  Where the Craft Lives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730752" y="1920240"/>
            <a:ext cx="1152144" cy="1097280"/>
          </a:xfrm>
          <a:prstGeom prst="rect">
            <a:avLst/>
          </a:prstGeom>
          <a:solidFill>
            <a:srgbClr val="F2F0EE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30752" y="1920240"/>
            <a:ext cx="1152144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85616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Proforma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785616" y="2414016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by analyst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974336" y="1920240"/>
            <a:ext cx="1152144" cy="1097280"/>
          </a:xfrm>
          <a:prstGeom prst="rect">
            <a:avLst/>
          </a:prstGeom>
          <a:solidFill>
            <a:srgbClr val="F2F0EE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74336" y="1920240"/>
            <a:ext cx="1152144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2414016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context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terms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17920" y="1920240"/>
            <a:ext cx="1152144" cy="1097280"/>
          </a:xfrm>
          <a:prstGeom prst="rect">
            <a:avLst/>
          </a:prstGeom>
          <a:solidFill>
            <a:srgbClr val="F2F0EE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17920" y="1920240"/>
            <a:ext cx="1152144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72784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72784" y="2414016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specs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evaluation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461504" y="1920240"/>
            <a:ext cx="1152144" cy="1097280"/>
          </a:xfrm>
          <a:prstGeom prst="rect">
            <a:avLst/>
          </a:prstGeom>
          <a:solidFill>
            <a:srgbClr val="F2F0EE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61504" y="1920240"/>
            <a:ext cx="1152144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6368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CMA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Zonda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516368" y="2414016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30752" y="307238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Analyst synthesizes all of this into...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730752" y="3346704"/>
            <a:ext cx="5157216" cy="713232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730752" y="3346704"/>
            <a:ext cx="5157216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30752" y="340156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President's Letter  —  LAR Approval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730752" y="37490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8F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analyst's work product — not a system output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56032" y="4187952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does this map feel incomplete or wrong to you?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56032" y="4828032"/>
            <a:ext cx="8631936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256032" y="146304"/>
            <a:ext cx="13716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201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 WE'RE HERE TO ANSWER TOGETHER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5488" y="11155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us through what actually goes into a President's Letter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75488" y="2340864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not just the data, but </a:t>
            </a:r>
            <a:r>
              <a:rPr lang="en-US" sz="2400" b="1" dirty="0">
                <a:solidFill>
                  <a:srgbClr val="AE8F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75488" y="3255264"/>
            <a:ext cx="1005840" cy="54864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3419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in.   Who contributes it.   Where it lives.   How long it takes.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capture notes in real time as you walk us through it.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11D"/>
          </a:solidFill>
          <a:ln w="12700">
            <a:solidFill>
              <a:srgbClr val="1A21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484632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"/>
            <a:ext cx="155448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64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What We're Hearing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" y="1298448"/>
            <a:ext cx="4224528" cy="384048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298448"/>
            <a:ext cx="82296" cy="38404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" y="1499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actually works today — steps, documents, people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" y="177393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1773936"/>
            <a:ext cx="82296" cy="4754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56032" y="232257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" y="2322576"/>
            <a:ext cx="82296" cy="4754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56032" y="287121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" y="2871216"/>
            <a:ext cx="82296" cy="4754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56032" y="341985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6032" y="3419856"/>
            <a:ext cx="82296" cy="4754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56032" y="396849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6032" y="3968496"/>
            <a:ext cx="82296" cy="4754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2336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700016" y="1298448"/>
            <a:ext cx="4224528" cy="384048"/>
          </a:xfrm>
          <a:prstGeom prst="rect">
            <a:avLst/>
          </a:prstGeom>
          <a:solidFill>
            <a:srgbClr val="222B26"/>
          </a:solidFill>
          <a:ln w="12700">
            <a:solidFill>
              <a:srgbClr val="222B2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0016" y="1298448"/>
            <a:ext cx="82296" cy="38404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64608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Friction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64608" y="1499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time, risk, or effort accumulates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700016" y="177393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0016" y="1773936"/>
            <a:ext cx="82296" cy="47548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00016" y="232257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0016" y="2322576"/>
            <a:ext cx="82296" cy="47548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700016" y="287121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0016" y="2871216"/>
            <a:ext cx="82296" cy="47548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700016" y="341985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00016" y="3419856"/>
            <a:ext cx="82296" cy="47548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0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700016" y="3968496"/>
            <a:ext cx="4224528" cy="475488"/>
          </a:xfrm>
          <a:prstGeom prst="rect">
            <a:avLst/>
          </a:prstGeom>
          <a:solidFill>
            <a:srgbClr val="F2F0EE"/>
          </a:solidFill>
          <a:ln w="6350">
            <a:solidFill>
              <a:srgbClr val="DEDAD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00016" y="3968496"/>
            <a:ext cx="82296" cy="475488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56032" y="4828032"/>
            <a:ext cx="8631936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"/>
            <a:ext cx="155448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64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partnership with  CALANCE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749808"/>
            <a:ext cx="8631936" cy="402336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Where We Go From Here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032" y="126187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big commitments today — just a clear, small next step.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1627632"/>
            <a:ext cx="8631936" cy="804672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1627632"/>
            <a:ext cx="82296" cy="804672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05472" y="1847088"/>
            <a:ext cx="1554480" cy="310896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05472" y="1847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Focused Proposal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17007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there's a clear fit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0299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come back with a proposal on one specific part of the workflow — small enough to test without disrupting how you work today.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" y="2578608"/>
            <a:ext cx="8631936" cy="804672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" y="2578608"/>
            <a:ext cx="82296" cy="804672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05472" y="2798064"/>
            <a:ext cx="1554480" cy="310896"/>
          </a:xfrm>
          <a:prstGeom prst="rect">
            <a:avLst/>
          </a:prstGeom>
          <a:solidFill>
            <a:srgbClr val="AE8F5D"/>
          </a:solidFill>
          <a:ln w="12700">
            <a:solidFill>
              <a:srgbClr val="AE8F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5472" y="2798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Follow-Up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2651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picture is still forming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298094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document what we heard today and return with a clearer hypothesis and a focused set of questions. No design work yet.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6032" y="3529584"/>
            <a:ext cx="8631936" cy="804672"/>
          </a:xfrm>
          <a:prstGeom prst="rect">
            <a:avLst/>
          </a:prstGeom>
          <a:solidFill>
            <a:srgbClr val="F2F0EE"/>
          </a:solidFill>
          <a:ln w="6350">
            <a:solidFill>
              <a:srgbClr val="E0DD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6032" y="3529584"/>
            <a:ext cx="82296" cy="804672"/>
          </a:xfrm>
          <a:prstGeom prst="rect">
            <a:avLst/>
          </a:prstGeom>
          <a:solidFill>
            <a:srgbClr val="9F9C8F"/>
          </a:solidFill>
          <a:ln w="12700">
            <a:solidFill>
              <a:srgbClr val="9F9C8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3749040"/>
            <a:ext cx="1554480" cy="310896"/>
          </a:xfrm>
          <a:prstGeom prst="rect">
            <a:avLst/>
          </a:prstGeom>
          <a:solidFill>
            <a:srgbClr val="9F9C8F"/>
          </a:solidFill>
          <a:ln w="12700">
            <a:solidFill>
              <a:srgbClr val="9F9C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05472" y="3749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Conclusion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36027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AI isn't the right answer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39319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say so. There may still be a workflow or knowledge management opportunity — or the answer may simply be that the process works well already.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828032"/>
            <a:ext cx="8631936" cy="18288"/>
          </a:xfrm>
          <a:prstGeom prst="rect">
            <a:avLst/>
          </a:prstGeom>
          <a:solidFill>
            <a:srgbClr val="679F7B"/>
          </a:solidFill>
          <a:ln w="12700">
            <a:solidFill>
              <a:srgbClr val="679F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9C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Beazer Homes  ·  In Partnership with Calance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541</Words>
  <Application>Microsoft Office PowerPoint</Application>
  <PresentationFormat>On-screen Show (16:9)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 Working Session — Taylor &amp; Jesse</dc:title>
  <dc:subject>PptxGenJS Presentation</dc:subject>
  <dc:creator>PptxGenJS</dc:creator>
  <cp:lastModifiedBy>jbrockman@careerpark.net</cp:lastModifiedBy>
  <cp:revision>2</cp:revision>
  <dcterms:created xsi:type="dcterms:W3CDTF">2026-03-25T15:48:38Z</dcterms:created>
  <dcterms:modified xsi:type="dcterms:W3CDTF">2026-03-25T18:11:59Z</dcterms:modified>
</cp:coreProperties>
</file>